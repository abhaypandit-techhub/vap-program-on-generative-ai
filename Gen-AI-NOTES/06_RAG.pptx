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7" r:id="rId11"/>
    <p:sldId id="268" r:id="rId12"/>
    <p:sldId id="269" r:id="rId13"/>
    <p:sldId id="270" r:id="rId14"/>
    <p:sldId id="271" r:id="rId15"/>
    <p:sldId id="272" r:id="rId16"/>
    <p:sldId id="273" r:id="rId17"/>
    <p:sldId id="274" r:id="rId18"/>
    <p:sldId id="275" r:id="rId19"/>
    <p:sldId id="281" r:id="rId20"/>
    <p:sldId id="283" r:id="rId21"/>
    <p:sldId id="284" r:id="rId22"/>
    <p:sldId id="294" r:id="rId23"/>
    <p:sldId id="295" r:id="rId24"/>
    <p:sldId id="296" r:id="rId25"/>
    <p:sldId id="298" r:id="rId26"/>
    <p:sldId id="299" r:id="rId27"/>
    <p:sldId id="300" r:id="rId28"/>
    <p:sldId id="301" r:id="rId29"/>
    <p:sldId id="302" r:id="rId30"/>
    <p:sldId id="304" r:id="rId31"/>
    <p:sldId id="305" r:id="rId32"/>
    <p:sldId id="306" r:id="rId33"/>
    <p:sldId id="307" r:id="rId34"/>
    <p:sldId id="308" r:id="rId35"/>
    <p:sldId id="311" r:id="rId36"/>
    <p:sldId id="313" r:id="rId37"/>
    <p:sldId id="314" r:id="rId38"/>
    <p:sldId id="315" r:id="rId3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p:scale>
          <a:sx n="74" d="100"/>
          <a:sy n="74" d="100"/>
        </p:scale>
        <p:origin x="552" y="-22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10/8/2026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10/8/2026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10/8/2026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10/8/2026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10/8/2026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10/8/2026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2920" y="228600"/>
            <a:ext cx="11155680" cy="594360"/>
          </a:xfrm>
          <a:prstGeom prst="rect">
            <a:avLst/>
          </a:prstGeom>
          <a:noFill/>
        </p:spPr>
        <p:txBody>
          <a:bodyPr wrap="none">
            <a:spAutoFit/>
          </a:bodyPr>
          <a:lstStyle/>
          <a:p>
            <a:pPr>
              <a:defRPr sz="2800" b="1"/>
            </a:pPr>
            <a:r>
              <a:t>RAG — Retrieval-Augmented Generation</a:t>
            </a:r>
          </a:p>
        </p:txBody>
      </p:sp>
      <p:sp>
        <p:nvSpPr>
          <p:cNvPr id="3" name="TextBox 2"/>
          <p:cNvSpPr txBox="1"/>
          <p:nvPr/>
        </p:nvSpPr>
        <p:spPr>
          <a:xfrm>
            <a:off x="594360" y="1280160"/>
            <a:ext cx="10972800" cy="2011680"/>
          </a:xfrm>
          <a:prstGeom prst="rect">
            <a:avLst/>
          </a:prstGeom>
          <a:noFill/>
        </p:spPr>
        <p:txBody>
          <a:bodyPr wrap="square">
            <a:normAutofit/>
          </a:bodyPr>
          <a:lstStyle/>
          <a:p>
            <a:pPr>
              <a:spcAft>
                <a:spcPts val="600"/>
              </a:spcAft>
              <a:defRPr sz="2400"/>
            </a:pPr>
            <a:r>
              <a:t>RAG is a combination of Retrieval + Generation.</a:t>
            </a:r>
          </a:p>
          <a:p>
            <a:pPr>
              <a:spcAft>
                <a:spcPts val="600"/>
              </a:spcAft>
              <a:defRPr sz="2400"/>
            </a:pPr>
            <a:endParaRPr/>
          </a:p>
          <a:p>
            <a:pPr>
              <a:spcAft>
                <a:spcPts val="600"/>
              </a:spcAft>
              <a:defRPr sz="2400"/>
            </a:pPr>
            <a:r>
              <a:t>We first find relevant information from our own data, then give that information to an LLM, which generates the answer.</a:t>
            </a:r>
          </a:p>
        </p:txBody>
      </p:sp>
      <p:sp>
        <p:nvSpPr>
          <p:cNvPr id="4" name="Rounded Rectangle 3"/>
          <p:cNvSpPr/>
          <p:nvPr/>
        </p:nvSpPr>
        <p:spPr>
          <a:xfrm>
            <a:off x="731520" y="3566161"/>
            <a:ext cx="10698480" cy="2743199"/>
          </a:xfrm>
          <a:prstGeom prst="roundRect">
            <a:avLst/>
          </a:prstGeom>
          <a:solidFill>
            <a:srgbClr val="F5F7FA"/>
          </a:solidFill>
          <a:ln>
            <a:solidFill>
              <a:srgbClr val="BEC3CA"/>
            </a:solidFill>
          </a:ln>
        </p:spPr>
        <p:style>
          <a:lnRef idx="1">
            <a:schemeClr val="accent1"/>
          </a:lnRef>
          <a:fillRef idx="3">
            <a:schemeClr val="accent1"/>
          </a:fillRef>
          <a:effectRef idx="2">
            <a:schemeClr val="accent1"/>
          </a:effectRef>
          <a:fontRef idx="minor">
            <a:schemeClr val="lt1"/>
          </a:fontRef>
        </p:style>
        <p:txBody>
          <a:bodyPr wrap="square" rtlCol="0" anchor="ctr">
            <a:normAutofit fontScale="62500" lnSpcReduction="20000"/>
          </a:bodyPr>
          <a:lstStyle/>
          <a:p>
            <a:pPr algn="ctr">
              <a:spcAft>
                <a:spcPts val="100"/>
              </a:spcAft>
              <a:defRPr sz="1300">
                <a:latin typeface="Consolas"/>
              </a:defRPr>
            </a:pPr>
            <a:r>
              <a:rPr dirty="0">
                <a:solidFill>
                  <a:schemeClr val="tx1"/>
                </a:solidFill>
              </a:rPr>
              <a:t>Documents</a:t>
            </a:r>
          </a:p>
          <a:p>
            <a:pPr>
              <a:spcAft>
                <a:spcPts val="100"/>
              </a:spcAft>
              <a:defRPr sz="1300">
                <a:latin typeface="Consolas"/>
              </a:defRPr>
            </a:pPr>
            <a:r>
              <a:rPr dirty="0">
                <a:solidFill>
                  <a:schemeClr val="tx1"/>
                </a:solidFill>
              </a:rPr>
              <a:t>   ↓</a:t>
            </a:r>
          </a:p>
          <a:p>
            <a:pPr>
              <a:spcAft>
                <a:spcPts val="100"/>
              </a:spcAft>
              <a:defRPr sz="1300">
                <a:latin typeface="Consolas"/>
              </a:defRPr>
            </a:pPr>
            <a:r>
              <a:rPr dirty="0">
                <a:solidFill>
                  <a:schemeClr val="tx1"/>
                </a:solidFill>
              </a:rPr>
              <a:t>Chunking</a:t>
            </a:r>
          </a:p>
          <a:p>
            <a:pPr>
              <a:spcAft>
                <a:spcPts val="100"/>
              </a:spcAft>
              <a:defRPr sz="1300">
                <a:latin typeface="Consolas"/>
              </a:defRPr>
            </a:pPr>
            <a:r>
              <a:rPr dirty="0">
                <a:solidFill>
                  <a:schemeClr val="tx1"/>
                </a:solidFill>
              </a:rPr>
              <a:t>   ↓</a:t>
            </a:r>
          </a:p>
          <a:p>
            <a:pPr>
              <a:spcAft>
                <a:spcPts val="100"/>
              </a:spcAft>
              <a:defRPr sz="1300">
                <a:latin typeface="Consolas"/>
              </a:defRPr>
            </a:pPr>
            <a:r>
              <a:rPr dirty="0">
                <a:solidFill>
                  <a:schemeClr val="tx1"/>
                </a:solidFill>
              </a:rPr>
              <a:t>Chunks</a:t>
            </a:r>
          </a:p>
          <a:p>
            <a:pPr>
              <a:spcAft>
                <a:spcPts val="100"/>
              </a:spcAft>
              <a:defRPr sz="1300">
                <a:latin typeface="Consolas"/>
              </a:defRPr>
            </a:pPr>
            <a:r>
              <a:rPr dirty="0">
                <a:solidFill>
                  <a:schemeClr val="tx1"/>
                </a:solidFill>
              </a:rPr>
              <a:t>   ↓</a:t>
            </a:r>
          </a:p>
          <a:p>
            <a:pPr>
              <a:spcAft>
                <a:spcPts val="100"/>
              </a:spcAft>
              <a:defRPr sz="1300">
                <a:latin typeface="Consolas"/>
              </a:defRPr>
            </a:pPr>
            <a:r>
              <a:rPr dirty="0">
                <a:solidFill>
                  <a:schemeClr val="tx1"/>
                </a:solidFill>
              </a:rPr>
              <a:t>Embeddings</a:t>
            </a:r>
          </a:p>
          <a:p>
            <a:pPr>
              <a:spcAft>
                <a:spcPts val="100"/>
              </a:spcAft>
              <a:defRPr sz="1300">
                <a:latin typeface="Consolas"/>
              </a:defRPr>
            </a:pPr>
            <a:r>
              <a:rPr dirty="0">
                <a:solidFill>
                  <a:schemeClr val="tx1"/>
                </a:solidFill>
              </a:rPr>
              <a:t>   ↓</a:t>
            </a:r>
          </a:p>
          <a:p>
            <a:pPr>
              <a:spcAft>
                <a:spcPts val="100"/>
              </a:spcAft>
              <a:defRPr sz="1300">
                <a:latin typeface="Consolas"/>
              </a:defRPr>
            </a:pPr>
            <a:r>
              <a:rPr dirty="0">
                <a:solidFill>
                  <a:schemeClr val="tx1"/>
                </a:solidFill>
              </a:rPr>
              <a:t>Vectors</a:t>
            </a:r>
          </a:p>
          <a:p>
            <a:pPr>
              <a:spcAft>
                <a:spcPts val="100"/>
              </a:spcAft>
              <a:defRPr sz="1300">
                <a:latin typeface="Consolas"/>
              </a:defRPr>
            </a:pPr>
            <a:r>
              <a:rPr dirty="0">
                <a:solidFill>
                  <a:schemeClr val="tx1"/>
                </a:solidFill>
              </a:rPr>
              <a:t>   ↓</a:t>
            </a:r>
          </a:p>
          <a:p>
            <a:pPr>
              <a:spcAft>
                <a:spcPts val="100"/>
              </a:spcAft>
              <a:defRPr sz="1300">
                <a:latin typeface="Consolas"/>
              </a:defRPr>
            </a:pPr>
            <a:r>
              <a:rPr dirty="0">
                <a:solidFill>
                  <a:schemeClr val="tx1"/>
                </a:solidFill>
              </a:rPr>
              <a:t>Vector Database</a:t>
            </a:r>
          </a:p>
          <a:p>
            <a:pPr>
              <a:spcAft>
                <a:spcPts val="100"/>
              </a:spcAft>
              <a:defRPr sz="1300">
                <a:latin typeface="Consolas"/>
              </a:defRPr>
            </a:pPr>
            <a:r>
              <a:rPr dirty="0">
                <a:solidFill>
                  <a:schemeClr val="tx1"/>
                </a:solidFill>
              </a:rPr>
              <a:t>   ↓</a:t>
            </a:r>
          </a:p>
          <a:p>
            <a:pPr>
              <a:spcAft>
                <a:spcPts val="100"/>
              </a:spcAft>
              <a:defRPr sz="1300">
                <a:latin typeface="Consolas"/>
              </a:defRPr>
            </a:pPr>
            <a:r>
              <a:rPr dirty="0">
                <a:solidFill>
                  <a:schemeClr val="tx1"/>
                </a:solidFill>
              </a:rPr>
              <a:t>Retriever</a:t>
            </a:r>
          </a:p>
          <a:p>
            <a:pPr>
              <a:spcAft>
                <a:spcPts val="100"/>
              </a:spcAft>
              <a:defRPr sz="1300">
                <a:latin typeface="Consolas"/>
              </a:defRPr>
            </a:pPr>
            <a:r>
              <a:rPr dirty="0">
                <a:solidFill>
                  <a:schemeClr val="tx1"/>
                </a:solidFill>
              </a:rPr>
              <a:t>   ↓</a:t>
            </a:r>
          </a:p>
          <a:p>
            <a:pPr>
              <a:spcAft>
                <a:spcPts val="100"/>
              </a:spcAft>
              <a:defRPr sz="1300">
                <a:latin typeface="Consolas"/>
              </a:defRPr>
            </a:pPr>
            <a:r>
              <a:rPr dirty="0">
                <a:solidFill>
                  <a:schemeClr val="tx1"/>
                </a:solidFill>
              </a:rPr>
              <a:t>Relevant Chunks</a:t>
            </a:r>
          </a:p>
          <a:p>
            <a:pPr>
              <a:spcAft>
                <a:spcPts val="100"/>
              </a:spcAft>
              <a:defRPr sz="1300">
                <a:latin typeface="Consolas"/>
              </a:defRPr>
            </a:pPr>
            <a:r>
              <a:rPr dirty="0">
                <a:solidFill>
                  <a:schemeClr val="tx1"/>
                </a:solidFill>
              </a:rPr>
              <a:t>   ↓</a:t>
            </a:r>
          </a:p>
          <a:p>
            <a:pPr>
              <a:spcAft>
                <a:spcPts val="100"/>
              </a:spcAft>
              <a:defRPr sz="1300">
                <a:latin typeface="Consolas"/>
              </a:defRPr>
            </a:pPr>
            <a:r>
              <a:rPr dirty="0">
                <a:solidFill>
                  <a:schemeClr val="tx1"/>
                </a:solidFill>
              </a:rPr>
              <a:t>Context + User Question</a:t>
            </a:r>
          </a:p>
          <a:p>
            <a:pPr>
              <a:spcAft>
                <a:spcPts val="100"/>
              </a:spcAft>
              <a:defRPr sz="1300">
                <a:latin typeface="Consolas"/>
              </a:defRPr>
            </a:pPr>
            <a:r>
              <a:rPr dirty="0">
                <a:solidFill>
                  <a:schemeClr val="tx1"/>
                </a:solidFill>
              </a:rPr>
              <a:t>   ↓</a:t>
            </a:r>
          </a:p>
          <a:p>
            <a:pPr>
              <a:spcAft>
                <a:spcPts val="100"/>
              </a:spcAft>
              <a:defRPr sz="1300">
                <a:latin typeface="Consolas"/>
              </a:defRPr>
            </a:pPr>
            <a:r>
              <a:rPr dirty="0">
                <a:solidFill>
                  <a:schemeClr val="tx1"/>
                </a:solidFill>
              </a:rPr>
              <a:t>LLM</a:t>
            </a:r>
          </a:p>
          <a:p>
            <a:pPr>
              <a:spcAft>
                <a:spcPts val="100"/>
              </a:spcAft>
              <a:defRPr sz="1300">
                <a:latin typeface="Consolas"/>
              </a:defRPr>
            </a:pPr>
            <a:r>
              <a:rPr dirty="0">
                <a:solidFill>
                  <a:schemeClr val="tx1"/>
                </a:solidFill>
              </a:rPr>
              <a:t>   ↓</a:t>
            </a:r>
          </a:p>
          <a:p>
            <a:pPr>
              <a:spcAft>
                <a:spcPts val="100"/>
              </a:spcAft>
              <a:defRPr sz="1300">
                <a:latin typeface="Consolas"/>
              </a:defRPr>
            </a:pPr>
            <a:r>
              <a:rPr dirty="0">
                <a:solidFill>
                  <a:schemeClr val="tx1"/>
                </a:solidFill>
              </a:rPr>
              <a:t>Answer</a:t>
            </a:r>
          </a:p>
        </p:txBody>
      </p:sp>
      <p:sp>
        <p:nvSpPr>
          <p:cNvPr id="5" name="Rectangle 4"/>
          <p:cNvSpPr/>
          <p:nvPr/>
        </p:nvSpPr>
        <p:spPr>
          <a:xfrm>
            <a:off x="502920" y="6565392"/>
            <a:ext cx="11155680" cy="13716"/>
          </a:xfrm>
          <a:prstGeom prst="rect">
            <a:avLst/>
          </a:prstGeom>
          <a:solidFill>
            <a:srgbClr val="D2D6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0607040" y="6601968"/>
            <a:ext cx="1005840" cy="182880"/>
          </a:xfrm>
          <a:prstGeom prst="rect">
            <a:avLst/>
          </a:prstGeom>
          <a:noFill/>
        </p:spPr>
        <p:txBody>
          <a:bodyPr wrap="none">
            <a:spAutoFit/>
          </a:bodyPr>
          <a:lstStyle/>
          <a:p>
            <a:pPr algn="r">
              <a:defRPr sz="900"/>
            </a:pPr>
            <a:r>
              <a:t>1</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2920" y="228600"/>
            <a:ext cx="11155680" cy="594360"/>
          </a:xfrm>
          <a:prstGeom prst="rect">
            <a:avLst/>
          </a:prstGeom>
          <a:noFill/>
        </p:spPr>
        <p:txBody>
          <a:bodyPr wrap="none">
            <a:spAutoFit/>
          </a:bodyPr>
          <a:lstStyle/>
          <a:p>
            <a:pPr>
              <a:defRPr sz="2800" b="1"/>
            </a:pPr>
            <a:r>
              <a:t>1. Embeddings — What is an Embedding?</a:t>
            </a:r>
          </a:p>
        </p:txBody>
      </p:sp>
      <p:sp>
        <p:nvSpPr>
          <p:cNvPr id="3" name="TextBox 2"/>
          <p:cNvSpPr txBox="1"/>
          <p:nvPr/>
        </p:nvSpPr>
        <p:spPr>
          <a:xfrm>
            <a:off x="594360" y="1051560"/>
            <a:ext cx="10972800" cy="5303520"/>
          </a:xfrm>
          <a:prstGeom prst="rect">
            <a:avLst/>
          </a:prstGeom>
          <a:noFill/>
        </p:spPr>
        <p:txBody>
          <a:bodyPr wrap="square">
            <a:normAutofit/>
          </a:bodyPr>
          <a:lstStyle/>
          <a:p>
            <a:pPr>
              <a:spcAft>
                <a:spcPts val="600"/>
              </a:spcAft>
              <a:defRPr sz="1700"/>
            </a:pPr>
            <a:r>
              <a:rPr dirty="0"/>
              <a:t>An embedding is a numerical representation of text.</a:t>
            </a:r>
          </a:p>
          <a:p>
            <a:pPr>
              <a:spcAft>
                <a:spcPts val="600"/>
              </a:spcAft>
              <a:defRPr sz="1700"/>
            </a:pPr>
            <a:endParaRPr dirty="0"/>
          </a:p>
          <a:p>
            <a:pPr>
              <a:spcAft>
                <a:spcPts val="600"/>
              </a:spcAft>
              <a:defRPr sz="1700"/>
            </a:pPr>
            <a:r>
              <a:rPr dirty="0"/>
              <a:t>Suppose we have:</a:t>
            </a:r>
          </a:p>
          <a:p>
            <a:pPr>
              <a:spcAft>
                <a:spcPts val="600"/>
              </a:spcAft>
              <a:defRPr sz="1700"/>
            </a:pPr>
            <a:r>
              <a:rPr dirty="0"/>
              <a:t>"I love my dog."</a:t>
            </a:r>
          </a:p>
          <a:p>
            <a:pPr>
              <a:spcAft>
                <a:spcPts val="600"/>
              </a:spcAft>
              <a:defRPr sz="1700"/>
            </a:pPr>
            <a:endParaRPr dirty="0"/>
          </a:p>
          <a:p>
            <a:pPr>
              <a:spcAft>
                <a:spcPts val="600"/>
              </a:spcAft>
              <a:defRPr sz="1700"/>
            </a:pPr>
            <a:r>
              <a:rPr dirty="0"/>
              <a:t>A computer doesn't naturally understand the meaning of this sentence. An embedding model converts it into numbers:</a:t>
            </a:r>
          </a:p>
          <a:p>
            <a:pPr>
              <a:spcAft>
                <a:spcPts val="600"/>
              </a:spcAft>
              <a:defRPr sz="1700"/>
            </a:pPr>
            <a:endParaRPr dirty="0"/>
          </a:p>
          <a:p>
            <a:pPr>
              <a:spcAft>
                <a:spcPts val="600"/>
              </a:spcAft>
              <a:defRPr sz="1700"/>
            </a:pPr>
            <a:r>
              <a:rPr dirty="0"/>
              <a:t>This list of numbers is called a vector.</a:t>
            </a:r>
          </a:p>
          <a:p>
            <a:pPr>
              <a:spcAft>
                <a:spcPts val="600"/>
              </a:spcAft>
              <a:defRPr sz="1700"/>
            </a:pPr>
            <a:endParaRPr dirty="0"/>
          </a:p>
          <a:p>
            <a:pPr>
              <a:spcAft>
                <a:spcPts val="600"/>
              </a:spcAft>
              <a:defRPr sz="1700"/>
            </a:pPr>
            <a:r>
              <a:rPr dirty="0"/>
              <a:t>Simple definition for students:</a:t>
            </a:r>
          </a:p>
          <a:p>
            <a:pPr>
              <a:spcAft>
                <a:spcPts val="600"/>
              </a:spcAft>
              <a:defRPr sz="1700"/>
            </a:pPr>
            <a:r>
              <a:rPr dirty="0"/>
              <a:t>Embedding = converting text into numbers in such a way that similar meanings produce similar vectors.</a:t>
            </a:r>
          </a:p>
        </p:txBody>
      </p:sp>
      <p:sp>
        <p:nvSpPr>
          <p:cNvPr id="4" name="Rectangle 3"/>
          <p:cNvSpPr/>
          <p:nvPr/>
        </p:nvSpPr>
        <p:spPr>
          <a:xfrm>
            <a:off x="502920" y="6565392"/>
            <a:ext cx="11155680" cy="13716"/>
          </a:xfrm>
          <a:prstGeom prst="rect">
            <a:avLst/>
          </a:prstGeom>
          <a:solidFill>
            <a:srgbClr val="D2D6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0607040" y="6601968"/>
            <a:ext cx="1005840" cy="182880"/>
          </a:xfrm>
          <a:prstGeom prst="rect">
            <a:avLst/>
          </a:prstGeom>
          <a:noFill/>
        </p:spPr>
        <p:txBody>
          <a:bodyPr wrap="none">
            <a:spAutoFit/>
          </a:bodyPr>
          <a:lstStyle/>
          <a:p>
            <a:pPr algn="r">
              <a:defRPr sz="900"/>
            </a:pPr>
            <a:r>
              <a:t>2</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2920" y="228600"/>
            <a:ext cx="11155680" cy="594360"/>
          </a:xfrm>
          <a:prstGeom prst="rect">
            <a:avLst/>
          </a:prstGeom>
          <a:noFill/>
        </p:spPr>
        <p:txBody>
          <a:bodyPr wrap="none">
            <a:spAutoFit/>
          </a:bodyPr>
          <a:lstStyle/>
          <a:p>
            <a:pPr>
              <a:defRPr sz="2800" b="1"/>
            </a:pPr>
            <a:r>
              <a:t>1. Embeddings — Example</a:t>
            </a:r>
          </a:p>
        </p:txBody>
      </p:sp>
      <p:sp>
        <p:nvSpPr>
          <p:cNvPr id="3" name="Rounded Rectangle 2"/>
          <p:cNvSpPr/>
          <p:nvPr/>
        </p:nvSpPr>
        <p:spPr>
          <a:xfrm>
            <a:off x="731520" y="1234440"/>
            <a:ext cx="10698480" cy="5029200"/>
          </a:xfrm>
          <a:prstGeom prst="roundRect">
            <a:avLst/>
          </a:prstGeom>
          <a:solidFill>
            <a:srgbClr val="F5F7FA"/>
          </a:solidFill>
          <a:ln>
            <a:solidFill>
              <a:srgbClr val="BEC3CA"/>
            </a:solidFill>
          </a:ln>
        </p:spPr>
        <p:style>
          <a:lnRef idx="1">
            <a:schemeClr val="accent1"/>
          </a:lnRef>
          <a:fillRef idx="3">
            <a:schemeClr val="accent1"/>
          </a:fillRef>
          <a:effectRef idx="2">
            <a:schemeClr val="accent1"/>
          </a:effectRef>
          <a:fontRef idx="minor">
            <a:schemeClr val="lt1"/>
          </a:fontRef>
        </p:style>
        <p:txBody>
          <a:bodyPr wrap="square" rtlCol="0" anchor="ctr">
            <a:normAutofit/>
          </a:bodyPr>
          <a:lstStyle/>
          <a:p>
            <a:pPr algn="ctr">
              <a:spcAft>
                <a:spcPts val="100"/>
              </a:spcAft>
              <a:defRPr sz="1300">
                <a:latin typeface="Consolas"/>
              </a:defRPr>
            </a:pPr>
            <a:r>
              <a:rPr dirty="0">
                <a:solidFill>
                  <a:schemeClr val="tx1"/>
                </a:solidFill>
              </a:rPr>
              <a:t>"I love my dog."</a:t>
            </a:r>
          </a:p>
          <a:p>
            <a:pPr>
              <a:spcAft>
                <a:spcPts val="100"/>
              </a:spcAft>
              <a:defRPr sz="1300">
                <a:latin typeface="Consolas"/>
              </a:defRPr>
            </a:pPr>
            <a:r>
              <a:rPr dirty="0">
                <a:solidFill>
                  <a:schemeClr val="tx1"/>
                </a:solidFill>
              </a:rPr>
              <a:t>        ↓</a:t>
            </a:r>
          </a:p>
          <a:p>
            <a:pPr>
              <a:spcAft>
                <a:spcPts val="100"/>
              </a:spcAft>
              <a:defRPr sz="1300">
                <a:latin typeface="Consolas"/>
              </a:defRPr>
            </a:pPr>
            <a:r>
              <a:rPr dirty="0">
                <a:solidFill>
                  <a:schemeClr val="tx1"/>
                </a:solidFill>
              </a:rPr>
              <a:t>Embedding Model</a:t>
            </a:r>
          </a:p>
          <a:p>
            <a:pPr>
              <a:spcAft>
                <a:spcPts val="100"/>
              </a:spcAft>
              <a:defRPr sz="1300">
                <a:latin typeface="Consolas"/>
              </a:defRPr>
            </a:pPr>
            <a:r>
              <a:rPr dirty="0">
                <a:solidFill>
                  <a:schemeClr val="tx1"/>
                </a:solidFill>
              </a:rPr>
              <a:t>        ↓</a:t>
            </a:r>
          </a:p>
          <a:p>
            <a:pPr>
              <a:spcAft>
                <a:spcPts val="100"/>
              </a:spcAft>
              <a:defRPr sz="1300">
                <a:latin typeface="Consolas"/>
              </a:defRPr>
            </a:pPr>
            <a:r>
              <a:rPr dirty="0">
                <a:solidFill>
                  <a:schemeClr val="tx1"/>
                </a:solidFill>
              </a:rPr>
              <a:t>[0.21, -0.45, 0.73, 0.11, ...]</a:t>
            </a:r>
          </a:p>
        </p:txBody>
      </p:sp>
      <p:sp>
        <p:nvSpPr>
          <p:cNvPr id="4" name="Rectangle 3"/>
          <p:cNvSpPr/>
          <p:nvPr/>
        </p:nvSpPr>
        <p:spPr>
          <a:xfrm>
            <a:off x="502920" y="6565392"/>
            <a:ext cx="11155680" cy="13716"/>
          </a:xfrm>
          <a:prstGeom prst="rect">
            <a:avLst/>
          </a:prstGeom>
          <a:solidFill>
            <a:srgbClr val="D2D6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0607040" y="6601968"/>
            <a:ext cx="1005840" cy="182880"/>
          </a:xfrm>
          <a:prstGeom prst="rect">
            <a:avLst/>
          </a:prstGeom>
          <a:noFill/>
        </p:spPr>
        <p:txBody>
          <a:bodyPr wrap="none">
            <a:spAutoFit/>
          </a:bodyPr>
          <a:lstStyle/>
          <a:p>
            <a:pPr algn="r">
              <a:defRPr sz="900"/>
            </a:pPr>
            <a:r>
              <a:t>3</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2920" y="228600"/>
            <a:ext cx="11155680" cy="594360"/>
          </a:xfrm>
          <a:prstGeom prst="rect">
            <a:avLst/>
          </a:prstGeom>
          <a:noFill/>
        </p:spPr>
        <p:txBody>
          <a:bodyPr wrap="none">
            <a:spAutoFit/>
          </a:bodyPr>
          <a:lstStyle/>
          <a:p>
            <a:pPr>
              <a:defRPr sz="2800" b="1"/>
            </a:pPr>
            <a:r>
              <a:t>2. Why Do We Need Embeddings?</a:t>
            </a:r>
          </a:p>
        </p:txBody>
      </p:sp>
      <p:sp>
        <p:nvSpPr>
          <p:cNvPr id="3" name="TextBox 2"/>
          <p:cNvSpPr txBox="1"/>
          <p:nvPr/>
        </p:nvSpPr>
        <p:spPr>
          <a:xfrm>
            <a:off x="594360" y="1051560"/>
            <a:ext cx="10972800" cy="5303520"/>
          </a:xfrm>
          <a:prstGeom prst="rect">
            <a:avLst/>
          </a:prstGeom>
          <a:noFill/>
        </p:spPr>
        <p:txBody>
          <a:bodyPr wrap="square">
            <a:normAutofit/>
          </a:bodyPr>
          <a:lstStyle/>
          <a:p>
            <a:pPr>
              <a:spcAft>
                <a:spcPts val="600"/>
              </a:spcAft>
              <a:defRPr sz="1700"/>
            </a:pPr>
            <a:r>
              <a:rPr dirty="0"/>
              <a:t>Imagine we have these sentences:</a:t>
            </a:r>
          </a:p>
          <a:p>
            <a:pPr>
              <a:spcAft>
                <a:spcPts val="600"/>
              </a:spcAft>
              <a:defRPr sz="1700"/>
            </a:pPr>
            <a:endParaRPr dirty="0"/>
          </a:p>
          <a:p>
            <a:pPr>
              <a:spcAft>
                <a:spcPts val="600"/>
              </a:spcAft>
              <a:defRPr sz="1700"/>
            </a:pPr>
            <a:r>
              <a:rPr dirty="0"/>
              <a:t>1. I love dogs.</a:t>
            </a:r>
          </a:p>
          <a:p>
            <a:pPr>
              <a:spcAft>
                <a:spcPts val="600"/>
              </a:spcAft>
              <a:defRPr sz="1700"/>
            </a:pPr>
            <a:r>
              <a:rPr dirty="0"/>
              <a:t>2. Puppies are my favorite animals.</a:t>
            </a:r>
          </a:p>
          <a:p>
            <a:pPr>
              <a:spcAft>
                <a:spcPts val="600"/>
              </a:spcAft>
              <a:defRPr sz="1700"/>
            </a:pPr>
            <a:r>
              <a:rPr dirty="0"/>
              <a:t>3. I bought a new laptop.</a:t>
            </a:r>
          </a:p>
          <a:p>
            <a:pPr>
              <a:spcAft>
                <a:spcPts val="600"/>
              </a:spcAft>
              <a:defRPr sz="1700"/>
            </a:pPr>
            <a:endParaRPr dirty="0"/>
          </a:p>
          <a:p>
            <a:pPr>
              <a:spcAft>
                <a:spcPts val="600"/>
              </a:spcAft>
              <a:defRPr sz="1700"/>
            </a:pPr>
            <a:r>
              <a:rPr dirty="0"/>
              <a:t>Sentence 1 and sentence 2 are semantically related. Sentence 3 is unrelated.</a:t>
            </a:r>
          </a:p>
          <a:p>
            <a:pPr>
              <a:spcAft>
                <a:spcPts val="600"/>
              </a:spcAft>
              <a:defRPr sz="1700"/>
            </a:pPr>
            <a:endParaRPr dirty="0"/>
          </a:p>
          <a:p>
            <a:pPr>
              <a:spcAft>
                <a:spcPts val="600"/>
              </a:spcAft>
              <a:defRPr sz="1700"/>
            </a:pPr>
            <a:r>
              <a:rPr dirty="0"/>
              <a:t>An embedding model tries to represent this relationship.</a:t>
            </a:r>
          </a:p>
        </p:txBody>
      </p:sp>
      <p:sp>
        <p:nvSpPr>
          <p:cNvPr id="4" name="Rectangle 3"/>
          <p:cNvSpPr/>
          <p:nvPr/>
        </p:nvSpPr>
        <p:spPr>
          <a:xfrm>
            <a:off x="502920" y="6565392"/>
            <a:ext cx="11155680" cy="13716"/>
          </a:xfrm>
          <a:prstGeom prst="rect">
            <a:avLst/>
          </a:prstGeom>
          <a:solidFill>
            <a:srgbClr val="D2D6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0607040" y="6601968"/>
            <a:ext cx="1005840" cy="182880"/>
          </a:xfrm>
          <a:prstGeom prst="rect">
            <a:avLst/>
          </a:prstGeom>
          <a:noFill/>
        </p:spPr>
        <p:txBody>
          <a:bodyPr wrap="none">
            <a:spAutoFit/>
          </a:bodyPr>
          <a:lstStyle/>
          <a:p>
            <a:pPr algn="r">
              <a:defRPr sz="900"/>
            </a:pPr>
            <a:r>
              <a:t>4</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2920" y="228600"/>
            <a:ext cx="11155680" cy="594360"/>
          </a:xfrm>
          <a:prstGeom prst="rect">
            <a:avLst/>
          </a:prstGeom>
          <a:noFill/>
        </p:spPr>
        <p:txBody>
          <a:bodyPr wrap="none">
            <a:spAutoFit/>
          </a:bodyPr>
          <a:lstStyle/>
          <a:p>
            <a:pPr>
              <a:defRPr sz="2800" b="1"/>
            </a:pPr>
            <a:r>
              <a:t>2. Why Do We Need Embeddings — Example</a:t>
            </a:r>
          </a:p>
        </p:txBody>
      </p:sp>
      <p:sp>
        <p:nvSpPr>
          <p:cNvPr id="3" name="Rounded Rectangle 2"/>
          <p:cNvSpPr/>
          <p:nvPr/>
        </p:nvSpPr>
        <p:spPr>
          <a:xfrm>
            <a:off x="960120" y="1179576"/>
            <a:ext cx="10698480" cy="5029200"/>
          </a:xfrm>
          <a:prstGeom prst="roundRect">
            <a:avLst/>
          </a:prstGeom>
          <a:solidFill>
            <a:srgbClr val="F5F7FA"/>
          </a:solidFill>
          <a:ln>
            <a:solidFill>
              <a:srgbClr val="BEC3CA"/>
            </a:solidFill>
          </a:ln>
        </p:spPr>
        <p:style>
          <a:lnRef idx="1">
            <a:schemeClr val="accent1"/>
          </a:lnRef>
          <a:fillRef idx="3">
            <a:schemeClr val="accent1"/>
          </a:fillRef>
          <a:effectRef idx="2">
            <a:schemeClr val="accent1"/>
          </a:effectRef>
          <a:fontRef idx="minor">
            <a:schemeClr val="lt1"/>
          </a:fontRef>
        </p:style>
        <p:txBody>
          <a:bodyPr wrap="square" rtlCol="0" anchor="ctr">
            <a:normAutofit/>
          </a:bodyPr>
          <a:lstStyle/>
          <a:p>
            <a:pPr algn="ctr">
              <a:spcAft>
                <a:spcPts val="100"/>
              </a:spcAft>
              <a:defRPr sz="1300">
                <a:latin typeface="Consolas"/>
              </a:defRPr>
            </a:pPr>
            <a:r>
              <a:rPr>
                <a:solidFill>
                  <a:schemeClr val="tx1"/>
                </a:solidFill>
              </a:rPr>
              <a:t>"I love dogs."             → [0.21, 0.72, ...]</a:t>
            </a:r>
          </a:p>
          <a:p>
            <a:pPr>
              <a:spcAft>
                <a:spcPts val="100"/>
              </a:spcAft>
              <a:defRPr sz="1300">
                <a:latin typeface="Consolas"/>
              </a:defRPr>
            </a:pPr>
            <a:r>
              <a:rPr>
                <a:solidFill>
                  <a:schemeClr val="tx1"/>
                </a:solidFill>
              </a:rPr>
              <a:t>"Puppies are my favorite"  → [0.23, 0.69, ...]</a:t>
            </a:r>
          </a:p>
          <a:p>
            <a:pPr>
              <a:spcAft>
                <a:spcPts val="100"/>
              </a:spcAft>
              <a:defRPr sz="1300">
                <a:latin typeface="Consolas"/>
              </a:defRPr>
            </a:pPr>
            <a:r>
              <a:rPr>
                <a:solidFill>
                  <a:schemeClr val="tx1"/>
                </a:solidFill>
              </a:rPr>
              <a:t>"I bought a laptop."       → [-0.71, 0.12, ...]</a:t>
            </a:r>
          </a:p>
          <a:p>
            <a:pPr>
              <a:spcAft>
                <a:spcPts val="100"/>
              </a:spcAft>
              <a:defRPr sz="1300">
                <a:latin typeface="Consolas"/>
              </a:defRPr>
            </a:pPr>
            <a:endParaRPr>
              <a:solidFill>
                <a:schemeClr val="tx1"/>
              </a:solidFill>
            </a:endParaRPr>
          </a:p>
          <a:p>
            <a:pPr>
              <a:spcAft>
                <a:spcPts val="100"/>
              </a:spcAft>
              <a:defRPr sz="1300">
                <a:latin typeface="Consolas"/>
              </a:defRPr>
            </a:pPr>
            <a:r>
              <a:rPr>
                <a:solidFill>
                  <a:schemeClr val="tx1"/>
                </a:solidFill>
              </a:rPr>
              <a:t>The first two vectors should be closer to each other.</a:t>
            </a:r>
          </a:p>
        </p:txBody>
      </p:sp>
      <p:sp>
        <p:nvSpPr>
          <p:cNvPr id="4" name="Rectangle 3"/>
          <p:cNvSpPr/>
          <p:nvPr/>
        </p:nvSpPr>
        <p:spPr>
          <a:xfrm>
            <a:off x="502920" y="6565392"/>
            <a:ext cx="11155680" cy="13716"/>
          </a:xfrm>
          <a:prstGeom prst="rect">
            <a:avLst/>
          </a:prstGeom>
          <a:solidFill>
            <a:srgbClr val="D2D6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0607040" y="6601968"/>
            <a:ext cx="1005840" cy="182880"/>
          </a:xfrm>
          <a:prstGeom prst="rect">
            <a:avLst/>
          </a:prstGeom>
          <a:noFill/>
        </p:spPr>
        <p:txBody>
          <a:bodyPr wrap="none">
            <a:spAutoFit/>
          </a:bodyPr>
          <a:lstStyle/>
          <a:p>
            <a:pPr algn="r">
              <a:defRPr sz="900"/>
            </a:pPr>
            <a:r>
              <a:t>5</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2920" y="228600"/>
            <a:ext cx="11155680" cy="594360"/>
          </a:xfrm>
          <a:prstGeom prst="rect">
            <a:avLst/>
          </a:prstGeom>
          <a:noFill/>
        </p:spPr>
        <p:txBody>
          <a:bodyPr wrap="none">
            <a:spAutoFit/>
          </a:bodyPr>
          <a:lstStyle/>
          <a:p>
            <a:pPr>
              <a:defRPr sz="2800" b="1"/>
            </a:pPr>
            <a:r>
              <a:t>3. Text Embeddings vs Semantic Embeddings</a:t>
            </a:r>
          </a:p>
        </p:txBody>
      </p:sp>
      <p:sp>
        <p:nvSpPr>
          <p:cNvPr id="3" name="TextBox 2"/>
          <p:cNvSpPr txBox="1"/>
          <p:nvPr/>
        </p:nvSpPr>
        <p:spPr>
          <a:xfrm>
            <a:off x="594360" y="1051560"/>
            <a:ext cx="10972800" cy="5303520"/>
          </a:xfrm>
          <a:prstGeom prst="rect">
            <a:avLst/>
          </a:prstGeom>
          <a:noFill/>
        </p:spPr>
        <p:txBody>
          <a:bodyPr wrap="square">
            <a:normAutofit/>
          </a:bodyPr>
          <a:lstStyle/>
          <a:p>
            <a:pPr>
              <a:spcAft>
                <a:spcPts val="600"/>
              </a:spcAft>
              <a:defRPr sz="1700"/>
            </a:pPr>
            <a:r>
              <a:t>Text embeddings represent text as vectors.</a:t>
            </a:r>
          </a:p>
          <a:p>
            <a:pPr>
              <a:spcAft>
                <a:spcPts val="600"/>
              </a:spcAft>
              <a:defRPr sz="1700"/>
            </a:pPr>
            <a:endParaRPr/>
          </a:p>
          <a:p>
            <a:pPr>
              <a:spcAft>
                <a:spcPts val="600"/>
              </a:spcAft>
              <a:defRPr sz="1700"/>
            </a:pPr>
            <a:r>
              <a:t>For example:</a:t>
            </a:r>
          </a:p>
          <a:p>
            <a:pPr>
              <a:spcAft>
                <a:spcPts val="600"/>
              </a:spcAft>
              <a:defRPr sz="1700"/>
            </a:pPr>
            <a:r>
              <a:t>"Apple is a fruit"</a:t>
            </a:r>
          </a:p>
          <a:p>
            <a:pPr>
              <a:spcAft>
                <a:spcPts val="600"/>
              </a:spcAft>
              <a:defRPr sz="1700"/>
            </a:pPr>
            <a:r>
              <a:t>        ↓</a:t>
            </a:r>
          </a:p>
          <a:p>
            <a:pPr>
              <a:spcAft>
                <a:spcPts val="600"/>
              </a:spcAft>
              <a:defRPr sz="1700"/>
            </a:pPr>
            <a:r>
              <a:t>[0.23, 0.61, -0.18, ...]</a:t>
            </a:r>
          </a:p>
          <a:p>
            <a:pPr>
              <a:spcAft>
                <a:spcPts val="600"/>
              </a:spcAft>
              <a:defRPr sz="1700"/>
            </a:pPr>
            <a:endParaRPr/>
          </a:p>
          <a:p>
            <a:pPr>
              <a:spcAft>
                <a:spcPts val="600"/>
              </a:spcAft>
              <a:defRPr sz="1700"/>
            </a:pPr>
            <a:r>
              <a:t>Semantic embeddings try to capture the meaning of the text.</a:t>
            </a:r>
          </a:p>
          <a:p>
            <a:pPr>
              <a:spcAft>
                <a:spcPts val="600"/>
              </a:spcAft>
              <a:defRPr sz="1700"/>
            </a:pPr>
            <a:endParaRPr/>
          </a:p>
          <a:p>
            <a:pPr>
              <a:spcAft>
                <a:spcPts val="600"/>
              </a:spcAft>
              <a:defRPr sz="1700"/>
            </a:pPr>
            <a:r>
              <a:t>For example:</a:t>
            </a:r>
          </a:p>
          <a:p>
            <a:pPr>
              <a:spcAft>
                <a:spcPts val="600"/>
              </a:spcAft>
              <a:defRPr sz="1700"/>
            </a:pPr>
            <a:r>
              <a:t>"I want to purchase a car."</a:t>
            </a:r>
          </a:p>
          <a:p>
            <a:pPr>
              <a:spcAft>
                <a:spcPts val="600"/>
              </a:spcAft>
              <a:defRPr sz="1700"/>
            </a:pPr>
            <a:endParaRPr/>
          </a:p>
          <a:p>
            <a:pPr>
              <a:spcAft>
                <a:spcPts val="600"/>
              </a:spcAft>
              <a:defRPr sz="1700"/>
            </a:pPr>
            <a:r>
              <a:t>"I am looking to buy a vehicle."</a:t>
            </a:r>
          </a:p>
          <a:p>
            <a:pPr>
              <a:spcAft>
                <a:spcPts val="600"/>
              </a:spcAft>
              <a:defRPr sz="1700"/>
            </a:pPr>
            <a:endParaRPr/>
          </a:p>
          <a:p>
            <a:pPr>
              <a:spcAft>
                <a:spcPts val="600"/>
              </a:spcAft>
              <a:defRPr sz="1700"/>
            </a:pPr>
            <a:r>
              <a:t>Although the words are different, the meaning is similar. A good embedding model should place them relatively close together.</a:t>
            </a:r>
          </a:p>
          <a:p>
            <a:pPr>
              <a:spcAft>
                <a:spcPts val="600"/>
              </a:spcAft>
              <a:defRPr sz="1700"/>
            </a:pPr>
            <a:endParaRPr/>
          </a:p>
          <a:p>
            <a:pPr>
              <a:spcAft>
                <a:spcPts val="600"/>
              </a:spcAft>
              <a:defRPr sz="1700"/>
            </a:pPr>
            <a:r>
              <a:t>Tell students:</a:t>
            </a:r>
          </a:p>
          <a:p>
            <a:pPr>
              <a:spcAft>
                <a:spcPts val="600"/>
              </a:spcAft>
              <a:defRPr sz="1700"/>
            </a:pPr>
            <a:r>
              <a:t>Keyword search looks for matching words. Semantic search looks for matching meaning.</a:t>
            </a:r>
          </a:p>
          <a:p>
            <a:pPr>
              <a:spcAft>
                <a:spcPts val="600"/>
              </a:spcAft>
              <a:defRPr sz="1700"/>
            </a:pPr>
            <a:endParaRPr/>
          </a:p>
          <a:p>
            <a:pPr>
              <a:spcAft>
                <a:spcPts val="600"/>
              </a:spcAft>
              <a:defRPr sz="1700"/>
            </a:pPr>
            <a:r>
              <a:t>This distinction is extremely important for RAG.</a:t>
            </a:r>
          </a:p>
        </p:txBody>
      </p:sp>
      <p:sp>
        <p:nvSpPr>
          <p:cNvPr id="4" name="Rectangle 3"/>
          <p:cNvSpPr/>
          <p:nvPr/>
        </p:nvSpPr>
        <p:spPr>
          <a:xfrm>
            <a:off x="502920" y="6565392"/>
            <a:ext cx="11155680" cy="13716"/>
          </a:xfrm>
          <a:prstGeom prst="rect">
            <a:avLst/>
          </a:prstGeom>
          <a:solidFill>
            <a:srgbClr val="D2D6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0607040" y="6601968"/>
            <a:ext cx="1005840" cy="182880"/>
          </a:xfrm>
          <a:prstGeom prst="rect">
            <a:avLst/>
          </a:prstGeom>
          <a:noFill/>
        </p:spPr>
        <p:txBody>
          <a:bodyPr wrap="none">
            <a:spAutoFit/>
          </a:bodyPr>
          <a:lstStyle/>
          <a:p>
            <a:pPr algn="r">
              <a:defRPr sz="900"/>
            </a:pPr>
            <a:r>
              <a:t>6</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2920" y="228600"/>
            <a:ext cx="11155680" cy="594360"/>
          </a:xfrm>
          <a:prstGeom prst="rect">
            <a:avLst/>
          </a:prstGeom>
          <a:noFill/>
        </p:spPr>
        <p:txBody>
          <a:bodyPr wrap="none">
            <a:spAutoFit/>
          </a:bodyPr>
          <a:lstStyle/>
          <a:p>
            <a:pPr>
              <a:defRPr sz="2800" b="1"/>
            </a:pPr>
            <a:r>
              <a:t>4. Embedding Dimensions</a:t>
            </a:r>
          </a:p>
        </p:txBody>
      </p:sp>
      <p:sp>
        <p:nvSpPr>
          <p:cNvPr id="3" name="TextBox 2"/>
          <p:cNvSpPr txBox="1"/>
          <p:nvPr/>
        </p:nvSpPr>
        <p:spPr>
          <a:xfrm>
            <a:off x="594360" y="1051560"/>
            <a:ext cx="10972800" cy="5303520"/>
          </a:xfrm>
          <a:prstGeom prst="rect">
            <a:avLst/>
          </a:prstGeom>
          <a:noFill/>
        </p:spPr>
        <p:txBody>
          <a:bodyPr wrap="square">
            <a:normAutofit/>
          </a:bodyPr>
          <a:lstStyle/>
          <a:p>
            <a:pPr>
              <a:spcAft>
                <a:spcPts val="600"/>
              </a:spcAft>
              <a:defRPr sz="1700"/>
            </a:pPr>
            <a:r>
              <a:t>An embedding is not necessarily just 3 or 4 numbers. It could contain hundreds or thousands of dimensions.</a:t>
            </a:r>
          </a:p>
          <a:p>
            <a:pPr>
              <a:spcAft>
                <a:spcPts val="600"/>
              </a:spcAft>
              <a:defRPr sz="1700"/>
            </a:pPr>
            <a:endParaRPr/>
          </a:p>
          <a:p>
            <a:pPr>
              <a:spcAft>
                <a:spcPts val="600"/>
              </a:spcAft>
              <a:defRPr sz="1700"/>
            </a:pPr>
            <a:r>
              <a:t>Suppose a model produces:</a:t>
            </a:r>
          </a:p>
          <a:p>
            <a:pPr>
              <a:spcAft>
                <a:spcPts val="600"/>
              </a:spcAft>
              <a:defRPr sz="1700"/>
            </a:pPr>
            <a:r>
              <a:t>384-dimensional embedding</a:t>
            </a:r>
          </a:p>
          <a:p>
            <a:pPr>
              <a:spcAft>
                <a:spcPts val="600"/>
              </a:spcAft>
              <a:defRPr sz="1700"/>
            </a:pPr>
            <a:endParaRPr/>
          </a:p>
          <a:p>
            <a:pPr>
              <a:spcAft>
                <a:spcPts val="600"/>
              </a:spcAft>
              <a:defRPr sz="1700"/>
            </a:pPr>
            <a:r>
              <a:t>That means every piece of text is represented using 384 numerical values.</a:t>
            </a:r>
          </a:p>
          <a:p>
            <a:pPr>
              <a:spcAft>
                <a:spcPts val="600"/>
              </a:spcAft>
              <a:defRPr sz="1700"/>
            </a:pPr>
            <a:endParaRPr/>
          </a:p>
          <a:p>
            <a:pPr>
              <a:spcAft>
                <a:spcPts val="600"/>
              </a:spcAft>
              <a:defRPr sz="1700"/>
            </a:pPr>
            <a:r>
              <a:t>Another model might produce:</a:t>
            </a:r>
          </a:p>
          <a:p>
            <a:pPr>
              <a:spcAft>
                <a:spcPts val="600"/>
              </a:spcAft>
              <a:defRPr sz="1700"/>
            </a:pPr>
            <a:r>
              <a:t>768 dimensions</a:t>
            </a:r>
          </a:p>
          <a:p>
            <a:pPr>
              <a:spcAft>
                <a:spcPts val="600"/>
              </a:spcAft>
              <a:defRPr sz="1700"/>
            </a:pPr>
            <a:r>
              <a:t>1536 dimensions</a:t>
            </a:r>
          </a:p>
          <a:p>
            <a:pPr>
              <a:spcAft>
                <a:spcPts val="600"/>
              </a:spcAft>
              <a:defRPr sz="1700"/>
            </a:pPr>
            <a:r>
              <a:t>3072 dimensions</a:t>
            </a:r>
          </a:p>
          <a:p>
            <a:pPr>
              <a:spcAft>
                <a:spcPts val="600"/>
              </a:spcAft>
              <a:defRPr sz="1700"/>
            </a:pPr>
            <a:endParaRPr/>
          </a:p>
          <a:p>
            <a:pPr>
              <a:spcAft>
                <a:spcPts val="600"/>
              </a:spcAft>
              <a:defRPr sz="1700"/>
            </a:pPr>
            <a:r>
              <a:t>depending on the model.</a:t>
            </a:r>
          </a:p>
          <a:p>
            <a:pPr>
              <a:spcAft>
                <a:spcPts val="600"/>
              </a:spcAft>
              <a:defRPr sz="1700"/>
            </a:pPr>
            <a:endParaRPr/>
          </a:p>
          <a:p>
            <a:pPr>
              <a:spcAft>
                <a:spcPts val="600"/>
              </a:spcAft>
              <a:defRPr sz="1700"/>
            </a:pPr>
            <a:r>
              <a:t>Important teaching point:</a:t>
            </a:r>
          </a:p>
          <a:p>
            <a:pPr>
              <a:spcAft>
                <a:spcPts val="600"/>
              </a:spcAft>
              <a:defRPr sz="1700"/>
            </a:pPr>
            <a:r>
              <a:t>More dimensions do not automatically mean better embeddings. Embedding quality depends on the model and task.</a:t>
            </a:r>
          </a:p>
        </p:txBody>
      </p:sp>
      <p:sp>
        <p:nvSpPr>
          <p:cNvPr id="4" name="Rectangle 3"/>
          <p:cNvSpPr/>
          <p:nvPr/>
        </p:nvSpPr>
        <p:spPr>
          <a:xfrm>
            <a:off x="502920" y="6565392"/>
            <a:ext cx="11155680" cy="13716"/>
          </a:xfrm>
          <a:prstGeom prst="rect">
            <a:avLst/>
          </a:prstGeom>
          <a:solidFill>
            <a:srgbClr val="D2D6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0607040" y="6601968"/>
            <a:ext cx="1005840" cy="182880"/>
          </a:xfrm>
          <a:prstGeom prst="rect">
            <a:avLst/>
          </a:prstGeom>
          <a:noFill/>
        </p:spPr>
        <p:txBody>
          <a:bodyPr wrap="none">
            <a:spAutoFit/>
          </a:bodyPr>
          <a:lstStyle/>
          <a:p>
            <a:pPr algn="r">
              <a:defRPr sz="900"/>
            </a:pPr>
            <a:r>
              <a:t>7</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2920" y="228600"/>
            <a:ext cx="11155680" cy="594360"/>
          </a:xfrm>
          <a:prstGeom prst="rect">
            <a:avLst/>
          </a:prstGeom>
          <a:noFill/>
        </p:spPr>
        <p:txBody>
          <a:bodyPr wrap="none">
            <a:spAutoFit/>
          </a:bodyPr>
          <a:lstStyle/>
          <a:p>
            <a:pPr>
              <a:defRPr sz="2800" b="1"/>
            </a:pPr>
            <a:r>
              <a:t>4. Embedding Dimensions — Visual</a:t>
            </a:r>
          </a:p>
        </p:txBody>
      </p:sp>
      <p:sp>
        <p:nvSpPr>
          <p:cNvPr id="3" name="Rounded Rectangle 2"/>
          <p:cNvSpPr/>
          <p:nvPr/>
        </p:nvSpPr>
        <p:spPr>
          <a:xfrm>
            <a:off x="502920" y="278892"/>
            <a:ext cx="10698480" cy="5029200"/>
          </a:xfrm>
          <a:prstGeom prst="roundRect">
            <a:avLst/>
          </a:prstGeom>
          <a:solidFill>
            <a:srgbClr val="F5F7FA"/>
          </a:solidFill>
          <a:ln>
            <a:solidFill>
              <a:srgbClr val="BEC3CA"/>
            </a:solidFill>
          </a:ln>
        </p:spPr>
        <p:style>
          <a:lnRef idx="1">
            <a:schemeClr val="accent1"/>
          </a:lnRef>
          <a:fillRef idx="3">
            <a:schemeClr val="accent1"/>
          </a:fillRef>
          <a:effectRef idx="2">
            <a:schemeClr val="accent1"/>
          </a:effectRef>
          <a:fontRef idx="minor">
            <a:schemeClr val="lt1"/>
          </a:fontRef>
        </p:style>
        <p:txBody>
          <a:bodyPr wrap="square" rtlCol="0" anchor="ctr">
            <a:normAutofit/>
          </a:bodyPr>
          <a:lstStyle/>
          <a:p>
            <a:pPr algn="ctr">
              <a:spcAft>
                <a:spcPts val="100"/>
              </a:spcAft>
              <a:defRPr sz="1300">
                <a:latin typeface="Consolas"/>
              </a:defRPr>
            </a:pPr>
            <a:r>
              <a:rPr dirty="0">
                <a:solidFill>
                  <a:schemeClr val="tx1"/>
                </a:solidFill>
              </a:rPr>
              <a:t>Text</a:t>
            </a:r>
          </a:p>
          <a:p>
            <a:pPr>
              <a:spcAft>
                <a:spcPts val="100"/>
              </a:spcAft>
              <a:defRPr sz="1300">
                <a:latin typeface="Consolas"/>
              </a:defRPr>
            </a:pPr>
            <a:r>
              <a:rPr dirty="0">
                <a:solidFill>
                  <a:schemeClr val="tx1"/>
                </a:solidFill>
              </a:rPr>
              <a:t> ↓</a:t>
            </a:r>
          </a:p>
          <a:p>
            <a:pPr>
              <a:spcAft>
                <a:spcPts val="100"/>
              </a:spcAft>
              <a:defRPr sz="1300">
                <a:latin typeface="Consolas"/>
              </a:defRPr>
            </a:pPr>
            <a:r>
              <a:rPr dirty="0">
                <a:solidFill>
                  <a:schemeClr val="tx1"/>
                </a:solidFill>
              </a:rPr>
              <a:t>Embedding Model</a:t>
            </a:r>
          </a:p>
          <a:p>
            <a:pPr>
              <a:spcAft>
                <a:spcPts val="100"/>
              </a:spcAft>
              <a:defRPr sz="1300">
                <a:latin typeface="Consolas"/>
              </a:defRPr>
            </a:pPr>
            <a:r>
              <a:rPr dirty="0">
                <a:solidFill>
                  <a:schemeClr val="tx1"/>
                </a:solidFill>
              </a:rPr>
              <a:t> ↓</a:t>
            </a:r>
          </a:p>
          <a:p>
            <a:pPr>
              <a:spcAft>
                <a:spcPts val="100"/>
              </a:spcAft>
              <a:defRPr sz="1300">
                <a:latin typeface="Consolas"/>
              </a:defRPr>
            </a:pPr>
            <a:r>
              <a:rPr dirty="0">
                <a:solidFill>
                  <a:schemeClr val="tx1"/>
                </a:solidFill>
              </a:rPr>
              <a:t>[0.12, -0.43, 0.71, 0.22, ...]</a:t>
            </a:r>
          </a:p>
          <a:p>
            <a:pPr>
              <a:spcAft>
                <a:spcPts val="100"/>
              </a:spcAft>
              <a:defRPr sz="1300">
                <a:latin typeface="Consolas"/>
              </a:defRPr>
            </a:pPr>
            <a:r>
              <a:rPr dirty="0">
                <a:solidFill>
                  <a:schemeClr val="tx1"/>
                </a:solidFill>
              </a:rPr>
              <a:t>              ↑</a:t>
            </a:r>
          </a:p>
          <a:p>
            <a:pPr>
              <a:spcAft>
                <a:spcPts val="100"/>
              </a:spcAft>
              <a:defRPr sz="1300">
                <a:latin typeface="Consolas"/>
              </a:defRPr>
            </a:pPr>
            <a:r>
              <a:rPr dirty="0">
                <a:solidFill>
                  <a:schemeClr val="tx1"/>
                </a:solidFill>
              </a:rPr>
              <a:t>        many dimensions</a:t>
            </a:r>
          </a:p>
        </p:txBody>
      </p:sp>
      <p:sp>
        <p:nvSpPr>
          <p:cNvPr id="4" name="Rectangle 3"/>
          <p:cNvSpPr/>
          <p:nvPr/>
        </p:nvSpPr>
        <p:spPr>
          <a:xfrm>
            <a:off x="502920" y="6565392"/>
            <a:ext cx="11155680" cy="13716"/>
          </a:xfrm>
          <a:prstGeom prst="rect">
            <a:avLst/>
          </a:prstGeom>
          <a:solidFill>
            <a:srgbClr val="D2D6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0607040" y="6601968"/>
            <a:ext cx="1005840" cy="182880"/>
          </a:xfrm>
          <a:prstGeom prst="rect">
            <a:avLst/>
          </a:prstGeom>
          <a:noFill/>
        </p:spPr>
        <p:txBody>
          <a:bodyPr wrap="none">
            <a:spAutoFit/>
          </a:bodyPr>
          <a:lstStyle/>
          <a:p>
            <a:pPr algn="r">
              <a:defRPr sz="900"/>
            </a:pPr>
            <a:r>
              <a:t>8</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2920" y="228600"/>
            <a:ext cx="11155680" cy="594360"/>
          </a:xfrm>
          <a:prstGeom prst="rect">
            <a:avLst/>
          </a:prstGeom>
          <a:noFill/>
        </p:spPr>
        <p:txBody>
          <a:bodyPr wrap="none">
            <a:spAutoFit/>
          </a:bodyPr>
          <a:lstStyle/>
          <a:p>
            <a:pPr>
              <a:defRPr sz="2800" b="1"/>
            </a:pPr>
            <a:r>
              <a:t>5. Similarity Metrics</a:t>
            </a:r>
          </a:p>
        </p:txBody>
      </p:sp>
      <p:sp>
        <p:nvSpPr>
          <p:cNvPr id="3" name="TextBox 2"/>
          <p:cNvSpPr txBox="1"/>
          <p:nvPr/>
        </p:nvSpPr>
        <p:spPr>
          <a:xfrm>
            <a:off x="594360" y="1051560"/>
            <a:ext cx="10972800" cy="5303520"/>
          </a:xfrm>
          <a:prstGeom prst="rect">
            <a:avLst/>
          </a:prstGeom>
          <a:noFill/>
        </p:spPr>
        <p:txBody>
          <a:bodyPr wrap="square">
            <a:normAutofit/>
          </a:bodyPr>
          <a:lstStyle/>
          <a:p>
            <a:pPr>
              <a:spcAft>
                <a:spcPts val="600"/>
              </a:spcAft>
              <a:defRPr sz="1700"/>
            </a:pPr>
            <a:r>
              <a:t>Once text has been converted into vectors, we need to determine:</a:t>
            </a:r>
          </a:p>
          <a:p>
            <a:pPr>
              <a:spcAft>
                <a:spcPts val="600"/>
              </a:spcAft>
              <a:defRPr sz="1700"/>
            </a:pPr>
            <a:endParaRPr/>
          </a:p>
          <a:p>
            <a:pPr>
              <a:spcAft>
                <a:spcPts val="600"/>
              </a:spcAft>
              <a:defRPr sz="1700"/>
            </a:pPr>
            <a:r>
              <a:t>"How similar are these two vectors?"</a:t>
            </a:r>
          </a:p>
          <a:p>
            <a:pPr>
              <a:spcAft>
                <a:spcPts val="600"/>
              </a:spcAft>
              <a:defRPr sz="1700"/>
            </a:pPr>
            <a:endParaRPr/>
          </a:p>
          <a:p>
            <a:pPr>
              <a:spcAft>
                <a:spcPts val="600"/>
              </a:spcAft>
              <a:defRPr sz="1700"/>
            </a:pPr>
            <a:r>
              <a:t>This is where similarity metrics are used.</a:t>
            </a:r>
          </a:p>
          <a:p>
            <a:pPr>
              <a:spcAft>
                <a:spcPts val="600"/>
              </a:spcAft>
              <a:defRPr sz="1700"/>
            </a:pPr>
            <a:endParaRPr/>
          </a:p>
          <a:p>
            <a:pPr>
              <a:spcAft>
                <a:spcPts val="600"/>
              </a:spcAft>
              <a:defRPr sz="1700"/>
            </a:pPr>
            <a:r>
              <a:t>Common metrics:</a:t>
            </a:r>
          </a:p>
          <a:p>
            <a:pPr>
              <a:spcAft>
                <a:spcPts val="600"/>
              </a:spcAft>
              <a:defRPr sz="1700"/>
            </a:pPr>
            <a:r>
              <a:t>1. Cosine similarity</a:t>
            </a:r>
          </a:p>
          <a:p>
            <a:pPr>
              <a:spcAft>
                <a:spcPts val="600"/>
              </a:spcAft>
              <a:defRPr sz="1700"/>
            </a:pPr>
            <a:r>
              <a:t>2. Euclidean distance</a:t>
            </a:r>
          </a:p>
          <a:p>
            <a:pPr>
              <a:spcAft>
                <a:spcPts val="600"/>
              </a:spcAft>
              <a:defRPr sz="1700"/>
            </a:pPr>
            <a:r>
              <a:t>3. Dot product</a:t>
            </a:r>
          </a:p>
        </p:txBody>
      </p:sp>
      <p:sp>
        <p:nvSpPr>
          <p:cNvPr id="4" name="Rectangle 3"/>
          <p:cNvSpPr/>
          <p:nvPr/>
        </p:nvSpPr>
        <p:spPr>
          <a:xfrm>
            <a:off x="502920" y="6565392"/>
            <a:ext cx="11155680" cy="13716"/>
          </a:xfrm>
          <a:prstGeom prst="rect">
            <a:avLst/>
          </a:prstGeom>
          <a:solidFill>
            <a:srgbClr val="D2D6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0607040" y="6601968"/>
            <a:ext cx="1005840" cy="182880"/>
          </a:xfrm>
          <a:prstGeom prst="rect">
            <a:avLst/>
          </a:prstGeom>
          <a:noFill/>
        </p:spPr>
        <p:txBody>
          <a:bodyPr wrap="none">
            <a:spAutoFit/>
          </a:bodyPr>
          <a:lstStyle/>
          <a:p>
            <a:pPr algn="r">
              <a:defRPr sz="900"/>
            </a:pPr>
            <a:r>
              <a:t>9</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2920" y="228600"/>
            <a:ext cx="11155680" cy="594360"/>
          </a:xfrm>
          <a:prstGeom prst="rect">
            <a:avLst/>
          </a:prstGeom>
          <a:noFill/>
        </p:spPr>
        <p:txBody>
          <a:bodyPr wrap="none">
            <a:spAutoFit/>
          </a:bodyPr>
          <a:lstStyle/>
          <a:p>
            <a:pPr>
              <a:defRPr sz="2800" b="1"/>
            </a:pPr>
            <a:r>
              <a:t>6. Chunking</a:t>
            </a:r>
          </a:p>
        </p:txBody>
      </p:sp>
      <p:sp>
        <p:nvSpPr>
          <p:cNvPr id="3" name="TextBox 2"/>
          <p:cNvSpPr txBox="1"/>
          <p:nvPr/>
        </p:nvSpPr>
        <p:spPr>
          <a:xfrm>
            <a:off x="594360" y="1051560"/>
            <a:ext cx="10972800" cy="5303520"/>
          </a:xfrm>
          <a:prstGeom prst="rect">
            <a:avLst/>
          </a:prstGeom>
          <a:noFill/>
        </p:spPr>
        <p:txBody>
          <a:bodyPr wrap="square">
            <a:normAutofit/>
          </a:bodyPr>
          <a:lstStyle/>
          <a:p>
            <a:pPr>
              <a:spcAft>
                <a:spcPts val="600"/>
              </a:spcAft>
              <a:defRPr sz="1700"/>
            </a:pPr>
            <a:r>
              <a:t>Now we reach one of the most important concepts in RAG.</a:t>
            </a:r>
          </a:p>
          <a:p>
            <a:pPr>
              <a:spcAft>
                <a:spcPts val="600"/>
              </a:spcAft>
              <a:defRPr sz="1700"/>
            </a:pPr>
            <a:endParaRPr/>
          </a:p>
          <a:p>
            <a:pPr>
              <a:spcAft>
                <a:spcPts val="600"/>
              </a:spcAft>
              <a:defRPr sz="1700"/>
            </a:pPr>
            <a:r>
              <a:t>Suppose we have a 100-page PDF. Should we send the entire PDF to the embedding model?</a:t>
            </a:r>
          </a:p>
          <a:p>
            <a:pPr>
              <a:spcAft>
                <a:spcPts val="600"/>
              </a:spcAft>
              <a:defRPr sz="1700"/>
            </a:pPr>
            <a:endParaRPr/>
          </a:p>
          <a:p>
            <a:pPr>
              <a:spcAft>
                <a:spcPts val="600"/>
              </a:spcAft>
              <a:defRPr sz="1700"/>
            </a:pPr>
            <a:r>
              <a:t>Usually, no.</a:t>
            </a:r>
          </a:p>
          <a:p>
            <a:pPr>
              <a:spcAft>
                <a:spcPts val="600"/>
              </a:spcAft>
              <a:defRPr sz="1700"/>
            </a:pPr>
            <a:endParaRPr/>
          </a:p>
          <a:p>
            <a:pPr>
              <a:spcAft>
                <a:spcPts val="600"/>
              </a:spcAft>
              <a:defRPr sz="1700"/>
            </a:pPr>
            <a:r>
              <a:t>Instead, we divide the document into smaller pieces.</a:t>
            </a:r>
          </a:p>
          <a:p>
            <a:pPr>
              <a:spcAft>
                <a:spcPts val="600"/>
              </a:spcAft>
              <a:defRPr sz="1700"/>
            </a:pPr>
            <a:endParaRPr/>
          </a:p>
          <a:p>
            <a:pPr>
              <a:spcAft>
                <a:spcPts val="600"/>
              </a:spcAft>
              <a:defRPr sz="1700"/>
            </a:pPr>
            <a:r>
              <a:t>This process is called:</a:t>
            </a:r>
          </a:p>
          <a:p>
            <a:pPr>
              <a:spcAft>
                <a:spcPts val="600"/>
              </a:spcAft>
              <a:defRPr sz="1700"/>
            </a:pPr>
            <a:r>
              <a:t>Chunking</a:t>
            </a:r>
          </a:p>
          <a:p>
            <a:pPr>
              <a:spcAft>
                <a:spcPts val="600"/>
              </a:spcAft>
              <a:defRPr sz="1700"/>
            </a:pPr>
            <a:endParaRPr/>
          </a:p>
          <a:p>
            <a:pPr>
              <a:spcAft>
                <a:spcPts val="600"/>
              </a:spcAft>
              <a:defRPr sz="1700"/>
            </a:pPr>
            <a:r>
              <a:t>Each chunk can then be embedded separately.</a:t>
            </a:r>
          </a:p>
        </p:txBody>
      </p:sp>
      <p:sp>
        <p:nvSpPr>
          <p:cNvPr id="4" name="Rectangle 3"/>
          <p:cNvSpPr/>
          <p:nvPr/>
        </p:nvSpPr>
        <p:spPr>
          <a:xfrm>
            <a:off x="502920" y="6565392"/>
            <a:ext cx="11155680" cy="13716"/>
          </a:xfrm>
          <a:prstGeom prst="rect">
            <a:avLst/>
          </a:prstGeom>
          <a:solidFill>
            <a:srgbClr val="D2D6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0607040" y="6601968"/>
            <a:ext cx="1005840" cy="182880"/>
          </a:xfrm>
          <a:prstGeom prst="rect">
            <a:avLst/>
          </a:prstGeom>
          <a:noFill/>
        </p:spPr>
        <p:txBody>
          <a:bodyPr wrap="none">
            <a:spAutoFit/>
          </a:bodyPr>
          <a:lstStyle/>
          <a:p>
            <a:pPr algn="r">
              <a:defRPr sz="900"/>
            </a:pPr>
            <a:r>
              <a:t>12</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2920" y="228600"/>
            <a:ext cx="11155680" cy="594360"/>
          </a:xfrm>
          <a:prstGeom prst="rect">
            <a:avLst/>
          </a:prstGeom>
          <a:noFill/>
        </p:spPr>
        <p:txBody>
          <a:bodyPr wrap="none">
            <a:spAutoFit/>
          </a:bodyPr>
          <a:lstStyle/>
          <a:p>
            <a:pPr>
              <a:defRPr sz="2800" b="1"/>
            </a:pPr>
            <a:r>
              <a:t>6. Chunking — Example</a:t>
            </a:r>
          </a:p>
        </p:txBody>
      </p:sp>
      <p:sp>
        <p:nvSpPr>
          <p:cNvPr id="3" name="Rounded Rectangle 2"/>
          <p:cNvSpPr/>
          <p:nvPr/>
        </p:nvSpPr>
        <p:spPr>
          <a:xfrm>
            <a:off x="731520" y="1234440"/>
            <a:ext cx="10698480" cy="5029200"/>
          </a:xfrm>
          <a:prstGeom prst="roundRect">
            <a:avLst/>
          </a:prstGeom>
          <a:solidFill>
            <a:srgbClr val="F5F7FA"/>
          </a:solidFill>
          <a:ln>
            <a:solidFill>
              <a:srgbClr val="BEC3CA"/>
            </a:solidFill>
          </a:ln>
        </p:spPr>
        <p:style>
          <a:lnRef idx="1">
            <a:schemeClr val="accent1"/>
          </a:lnRef>
          <a:fillRef idx="3">
            <a:schemeClr val="accent1"/>
          </a:fillRef>
          <a:effectRef idx="2">
            <a:schemeClr val="accent1"/>
          </a:effectRef>
          <a:fontRef idx="minor">
            <a:schemeClr val="lt1"/>
          </a:fontRef>
        </p:style>
        <p:txBody>
          <a:bodyPr wrap="square" rtlCol="0" anchor="ctr">
            <a:normAutofit/>
          </a:bodyPr>
          <a:lstStyle/>
          <a:p>
            <a:pPr algn="ctr">
              <a:spcAft>
                <a:spcPts val="100"/>
              </a:spcAft>
              <a:defRPr sz="1300">
                <a:latin typeface="Consolas"/>
              </a:defRPr>
            </a:pPr>
            <a:r>
              <a:rPr dirty="0">
                <a:solidFill>
                  <a:schemeClr val="tx1"/>
                </a:solidFill>
              </a:rPr>
              <a:t>Large Document</a:t>
            </a:r>
          </a:p>
          <a:p>
            <a:pPr>
              <a:spcAft>
                <a:spcPts val="100"/>
              </a:spcAft>
              <a:defRPr sz="1300">
                <a:latin typeface="Consolas"/>
              </a:defRPr>
            </a:pPr>
            <a:r>
              <a:rPr dirty="0">
                <a:solidFill>
                  <a:schemeClr val="tx1"/>
                </a:solidFill>
              </a:rPr>
              <a:t>      ↓</a:t>
            </a:r>
          </a:p>
          <a:p>
            <a:pPr>
              <a:spcAft>
                <a:spcPts val="100"/>
              </a:spcAft>
              <a:defRPr sz="1300">
                <a:latin typeface="Consolas"/>
              </a:defRPr>
            </a:pPr>
            <a:r>
              <a:rPr dirty="0">
                <a:solidFill>
                  <a:schemeClr val="tx1"/>
                </a:solidFill>
              </a:rPr>
              <a:t> ┌─────────────┐</a:t>
            </a:r>
          </a:p>
          <a:p>
            <a:pPr>
              <a:spcAft>
                <a:spcPts val="100"/>
              </a:spcAft>
              <a:defRPr sz="1300">
                <a:latin typeface="Consolas"/>
              </a:defRPr>
            </a:pPr>
            <a:r>
              <a:rPr dirty="0">
                <a:solidFill>
                  <a:schemeClr val="tx1"/>
                </a:solidFill>
              </a:rPr>
              <a:t> │ Chunk 1     │</a:t>
            </a:r>
          </a:p>
          <a:p>
            <a:pPr>
              <a:spcAft>
                <a:spcPts val="100"/>
              </a:spcAft>
              <a:defRPr sz="1300">
                <a:latin typeface="Consolas"/>
              </a:defRPr>
            </a:pPr>
            <a:r>
              <a:rPr dirty="0">
                <a:solidFill>
                  <a:schemeClr val="tx1"/>
                </a:solidFill>
              </a:rPr>
              <a:t> ├─────────────┤</a:t>
            </a:r>
          </a:p>
          <a:p>
            <a:pPr>
              <a:spcAft>
                <a:spcPts val="100"/>
              </a:spcAft>
              <a:defRPr sz="1300">
                <a:latin typeface="Consolas"/>
              </a:defRPr>
            </a:pPr>
            <a:r>
              <a:rPr dirty="0">
                <a:solidFill>
                  <a:schemeClr val="tx1"/>
                </a:solidFill>
              </a:rPr>
              <a:t> │ Chunk 2     │</a:t>
            </a:r>
          </a:p>
          <a:p>
            <a:pPr>
              <a:spcAft>
                <a:spcPts val="100"/>
              </a:spcAft>
              <a:defRPr sz="1300">
                <a:latin typeface="Consolas"/>
              </a:defRPr>
            </a:pPr>
            <a:r>
              <a:rPr dirty="0">
                <a:solidFill>
                  <a:schemeClr val="tx1"/>
                </a:solidFill>
              </a:rPr>
              <a:t> ├─────────────┤</a:t>
            </a:r>
          </a:p>
          <a:p>
            <a:pPr>
              <a:spcAft>
                <a:spcPts val="100"/>
              </a:spcAft>
              <a:defRPr sz="1300">
                <a:latin typeface="Consolas"/>
              </a:defRPr>
            </a:pPr>
            <a:r>
              <a:rPr dirty="0">
                <a:solidFill>
                  <a:schemeClr val="tx1"/>
                </a:solidFill>
              </a:rPr>
              <a:t> │ Chunk 3     │</a:t>
            </a:r>
          </a:p>
          <a:p>
            <a:pPr>
              <a:spcAft>
                <a:spcPts val="100"/>
              </a:spcAft>
              <a:defRPr sz="1300">
                <a:latin typeface="Consolas"/>
              </a:defRPr>
            </a:pPr>
            <a:r>
              <a:rPr dirty="0">
                <a:solidFill>
                  <a:schemeClr val="tx1"/>
                </a:solidFill>
              </a:rPr>
              <a:t> ├─────────────┤</a:t>
            </a:r>
          </a:p>
          <a:p>
            <a:pPr>
              <a:spcAft>
                <a:spcPts val="100"/>
              </a:spcAft>
              <a:defRPr sz="1300">
                <a:latin typeface="Consolas"/>
              </a:defRPr>
            </a:pPr>
            <a:r>
              <a:rPr dirty="0">
                <a:solidFill>
                  <a:schemeClr val="tx1"/>
                </a:solidFill>
              </a:rPr>
              <a:t> │ Chunk 4     │</a:t>
            </a:r>
          </a:p>
          <a:p>
            <a:pPr>
              <a:spcAft>
                <a:spcPts val="100"/>
              </a:spcAft>
              <a:defRPr sz="1300">
                <a:latin typeface="Consolas"/>
              </a:defRPr>
            </a:pPr>
            <a:r>
              <a:rPr dirty="0">
                <a:solidFill>
                  <a:schemeClr val="tx1"/>
                </a:solidFill>
              </a:rPr>
              <a:t> └─────────────┘</a:t>
            </a:r>
          </a:p>
        </p:txBody>
      </p:sp>
      <p:sp>
        <p:nvSpPr>
          <p:cNvPr id="4" name="Rectangle 3"/>
          <p:cNvSpPr/>
          <p:nvPr/>
        </p:nvSpPr>
        <p:spPr>
          <a:xfrm>
            <a:off x="502920" y="6565392"/>
            <a:ext cx="11155680" cy="13716"/>
          </a:xfrm>
          <a:prstGeom prst="rect">
            <a:avLst/>
          </a:prstGeom>
          <a:solidFill>
            <a:srgbClr val="D2D6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0607040" y="6601968"/>
            <a:ext cx="1005840" cy="182880"/>
          </a:xfrm>
          <a:prstGeom prst="rect">
            <a:avLst/>
          </a:prstGeom>
          <a:noFill/>
        </p:spPr>
        <p:txBody>
          <a:bodyPr wrap="none">
            <a:spAutoFit/>
          </a:bodyPr>
          <a:lstStyle/>
          <a:p>
            <a:pPr algn="r">
              <a:defRPr sz="900"/>
            </a:pPr>
            <a:r>
              <a:t>13</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2920" y="228600"/>
            <a:ext cx="11155680" cy="594360"/>
          </a:xfrm>
          <a:prstGeom prst="rect">
            <a:avLst/>
          </a:prstGeom>
          <a:noFill/>
        </p:spPr>
        <p:txBody>
          <a:bodyPr wrap="none">
            <a:spAutoFit/>
          </a:bodyPr>
          <a:lstStyle/>
          <a:p>
            <a:pPr>
              <a:defRPr sz="2800" b="1"/>
            </a:pPr>
            <a:r>
              <a:t>7. Why Do We Need Chunking?</a:t>
            </a:r>
          </a:p>
        </p:txBody>
      </p:sp>
      <p:sp>
        <p:nvSpPr>
          <p:cNvPr id="3" name="TextBox 2"/>
          <p:cNvSpPr txBox="1"/>
          <p:nvPr/>
        </p:nvSpPr>
        <p:spPr>
          <a:xfrm>
            <a:off x="594360" y="1051560"/>
            <a:ext cx="10972800" cy="5303520"/>
          </a:xfrm>
          <a:prstGeom prst="rect">
            <a:avLst/>
          </a:prstGeom>
          <a:noFill/>
        </p:spPr>
        <p:txBody>
          <a:bodyPr wrap="square">
            <a:normAutofit/>
          </a:bodyPr>
          <a:lstStyle/>
          <a:p>
            <a:pPr>
              <a:spcAft>
                <a:spcPts val="600"/>
              </a:spcAft>
              <a:defRPr sz="1700"/>
            </a:pPr>
            <a:r>
              <a:t>Imagine a 500-page company document.</a:t>
            </a:r>
          </a:p>
          <a:p>
            <a:pPr>
              <a:spcAft>
                <a:spcPts val="600"/>
              </a:spcAft>
              <a:defRPr sz="1700"/>
            </a:pPr>
            <a:endParaRPr/>
          </a:p>
          <a:p>
            <a:pPr>
              <a:spcAft>
                <a:spcPts val="600"/>
              </a:spcAft>
              <a:defRPr sz="1700"/>
            </a:pPr>
            <a:r>
              <a:t>The user asks:</a:t>
            </a:r>
          </a:p>
          <a:p>
            <a:pPr>
              <a:spcAft>
                <a:spcPts val="600"/>
              </a:spcAft>
              <a:defRPr sz="1700"/>
            </a:pPr>
            <a:r>
              <a:t>"What is the company's leave policy?"</a:t>
            </a:r>
          </a:p>
          <a:p>
            <a:pPr>
              <a:spcAft>
                <a:spcPts val="600"/>
              </a:spcAft>
              <a:defRPr sz="1700"/>
            </a:pPr>
            <a:endParaRPr/>
          </a:p>
          <a:p>
            <a:pPr>
              <a:spcAft>
                <a:spcPts val="600"/>
              </a:spcAft>
              <a:defRPr sz="1700"/>
            </a:pPr>
            <a:r>
              <a:t>We don't want the retrieval system to return all 500 pages.</a:t>
            </a:r>
          </a:p>
          <a:p>
            <a:pPr>
              <a:spcAft>
                <a:spcPts val="600"/>
              </a:spcAft>
              <a:defRPr sz="1700"/>
            </a:pPr>
            <a:endParaRPr/>
          </a:p>
          <a:p>
            <a:pPr>
              <a:spcAft>
                <a:spcPts val="600"/>
              </a:spcAft>
              <a:defRPr sz="1700"/>
            </a:pPr>
            <a:r>
              <a:t>We want something like:</a:t>
            </a:r>
          </a:p>
          <a:p>
            <a:pPr>
              <a:spcAft>
                <a:spcPts val="600"/>
              </a:spcAft>
              <a:defRPr sz="1700"/>
            </a:pPr>
            <a:endParaRPr/>
          </a:p>
          <a:p>
            <a:pPr>
              <a:spcAft>
                <a:spcPts val="600"/>
              </a:spcAft>
              <a:defRPr sz="1700"/>
            </a:pPr>
            <a:r>
              <a:t>Chunk 147</a:t>
            </a:r>
          </a:p>
          <a:p>
            <a:pPr>
              <a:spcAft>
                <a:spcPts val="600"/>
              </a:spcAft>
              <a:defRPr sz="1700"/>
            </a:pPr>
            <a:r>
              <a:t>"Employees are entitled to 20 days of annual leave..."</a:t>
            </a:r>
          </a:p>
          <a:p>
            <a:pPr>
              <a:spcAft>
                <a:spcPts val="600"/>
              </a:spcAft>
              <a:defRPr sz="1700"/>
            </a:pPr>
            <a:endParaRPr/>
          </a:p>
          <a:p>
            <a:pPr>
              <a:spcAft>
                <a:spcPts val="600"/>
              </a:spcAft>
              <a:defRPr sz="1700"/>
            </a:pPr>
            <a:r>
              <a:t>Then this chunk is given to the LLM.</a:t>
            </a:r>
          </a:p>
          <a:p>
            <a:pPr>
              <a:spcAft>
                <a:spcPts val="600"/>
              </a:spcAft>
              <a:defRPr sz="1700"/>
            </a:pPr>
            <a:endParaRPr/>
          </a:p>
          <a:p>
            <a:pPr>
              <a:spcAft>
                <a:spcPts val="600"/>
              </a:spcAft>
              <a:defRPr sz="1700"/>
            </a:pPr>
            <a:r>
              <a:t>Simple classroom explanation:</a:t>
            </a:r>
          </a:p>
          <a:p>
            <a:pPr>
              <a:spcAft>
                <a:spcPts val="600"/>
              </a:spcAft>
              <a:defRPr sz="1700"/>
            </a:pPr>
            <a:r>
              <a:t>Chunking converts a large document into smaller searchable pieces.</a:t>
            </a:r>
          </a:p>
        </p:txBody>
      </p:sp>
      <p:sp>
        <p:nvSpPr>
          <p:cNvPr id="4" name="Rectangle 3"/>
          <p:cNvSpPr/>
          <p:nvPr/>
        </p:nvSpPr>
        <p:spPr>
          <a:xfrm>
            <a:off x="502920" y="6565392"/>
            <a:ext cx="11155680" cy="13716"/>
          </a:xfrm>
          <a:prstGeom prst="rect">
            <a:avLst/>
          </a:prstGeom>
          <a:solidFill>
            <a:srgbClr val="D2D6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0607040" y="6601968"/>
            <a:ext cx="1005840" cy="182880"/>
          </a:xfrm>
          <a:prstGeom prst="rect">
            <a:avLst/>
          </a:prstGeom>
          <a:noFill/>
        </p:spPr>
        <p:txBody>
          <a:bodyPr wrap="none">
            <a:spAutoFit/>
          </a:bodyPr>
          <a:lstStyle/>
          <a:p>
            <a:pPr algn="r">
              <a:defRPr sz="900"/>
            </a:pPr>
            <a:r>
              <a:t>14</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2920" y="228600"/>
            <a:ext cx="11155680" cy="594360"/>
          </a:xfrm>
          <a:prstGeom prst="rect">
            <a:avLst/>
          </a:prstGeom>
          <a:noFill/>
        </p:spPr>
        <p:txBody>
          <a:bodyPr wrap="none">
            <a:spAutoFit/>
          </a:bodyPr>
          <a:lstStyle/>
          <a:p>
            <a:pPr>
              <a:defRPr sz="2800" b="1"/>
            </a:pPr>
            <a:r>
              <a:t>8. Fixed-Size Chunking</a:t>
            </a:r>
          </a:p>
        </p:txBody>
      </p:sp>
      <p:sp>
        <p:nvSpPr>
          <p:cNvPr id="3" name="TextBox 2"/>
          <p:cNvSpPr txBox="1"/>
          <p:nvPr/>
        </p:nvSpPr>
        <p:spPr>
          <a:xfrm>
            <a:off x="594360" y="1051560"/>
            <a:ext cx="10972800" cy="5303520"/>
          </a:xfrm>
          <a:prstGeom prst="rect">
            <a:avLst/>
          </a:prstGeom>
          <a:noFill/>
        </p:spPr>
        <p:txBody>
          <a:bodyPr wrap="square">
            <a:normAutofit/>
          </a:bodyPr>
          <a:lstStyle/>
          <a:p>
            <a:pPr>
              <a:spcAft>
                <a:spcPts val="600"/>
              </a:spcAft>
              <a:defRPr sz="1700"/>
            </a:pPr>
            <a:r>
              <a:t>The simplest strategy is fixed chunking.</a:t>
            </a:r>
          </a:p>
          <a:p>
            <a:pPr>
              <a:spcAft>
                <a:spcPts val="600"/>
              </a:spcAft>
              <a:defRPr sz="1700"/>
            </a:pPr>
            <a:endParaRPr/>
          </a:p>
          <a:p>
            <a:pPr>
              <a:spcAft>
                <a:spcPts val="600"/>
              </a:spcAft>
              <a:defRPr sz="1700"/>
            </a:pPr>
            <a:r>
              <a:t>For example:</a:t>
            </a:r>
          </a:p>
          <a:p>
            <a:pPr>
              <a:spcAft>
                <a:spcPts val="600"/>
              </a:spcAft>
              <a:defRPr sz="1700"/>
            </a:pPr>
            <a:r>
              <a:t>Chunk size = 500 characters</a:t>
            </a:r>
          </a:p>
          <a:p>
            <a:pPr>
              <a:spcAft>
                <a:spcPts val="600"/>
              </a:spcAft>
              <a:defRPr sz="1700"/>
            </a:pPr>
            <a:endParaRPr/>
          </a:p>
          <a:p>
            <a:pPr>
              <a:spcAft>
                <a:spcPts val="600"/>
              </a:spcAft>
              <a:defRPr sz="1700"/>
            </a:pPr>
            <a:r>
              <a:t>We simply divide the text every 500 characters.</a:t>
            </a:r>
          </a:p>
          <a:p>
            <a:pPr>
              <a:spcAft>
                <a:spcPts val="600"/>
              </a:spcAft>
              <a:defRPr sz="1700"/>
            </a:pPr>
            <a:endParaRPr/>
          </a:p>
          <a:p>
            <a:pPr>
              <a:spcAft>
                <a:spcPts val="600"/>
              </a:spcAft>
              <a:defRPr sz="1700"/>
            </a:pPr>
            <a:r>
              <a:t>Advantage:</a:t>
            </a:r>
          </a:p>
          <a:p>
            <a:pPr>
              <a:spcAft>
                <a:spcPts val="600"/>
              </a:spcAft>
              <a:defRPr sz="1700"/>
            </a:pPr>
            <a:r>
              <a:t>Very simple.</a:t>
            </a:r>
          </a:p>
          <a:p>
            <a:pPr>
              <a:spcAft>
                <a:spcPts val="600"/>
              </a:spcAft>
              <a:defRPr sz="1700"/>
            </a:pPr>
            <a:endParaRPr/>
          </a:p>
          <a:p>
            <a:pPr>
              <a:spcAft>
                <a:spcPts val="600"/>
              </a:spcAft>
              <a:defRPr sz="1700"/>
            </a:pPr>
            <a:r>
              <a:t>Disadvantage:</a:t>
            </a:r>
          </a:p>
          <a:p>
            <a:pPr>
              <a:spcAft>
                <a:spcPts val="600"/>
              </a:spcAft>
              <a:defRPr sz="1700"/>
            </a:pPr>
            <a:r>
              <a:t>It may cut a sentence or paragraph in the middle.</a:t>
            </a:r>
          </a:p>
        </p:txBody>
      </p:sp>
      <p:sp>
        <p:nvSpPr>
          <p:cNvPr id="4" name="Rectangle 3"/>
          <p:cNvSpPr/>
          <p:nvPr/>
        </p:nvSpPr>
        <p:spPr>
          <a:xfrm>
            <a:off x="502920" y="6565392"/>
            <a:ext cx="11155680" cy="13716"/>
          </a:xfrm>
          <a:prstGeom prst="rect">
            <a:avLst/>
          </a:prstGeom>
          <a:solidFill>
            <a:srgbClr val="D2D6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0607040" y="6601968"/>
            <a:ext cx="1005840" cy="182880"/>
          </a:xfrm>
          <a:prstGeom prst="rect">
            <a:avLst/>
          </a:prstGeom>
          <a:noFill/>
        </p:spPr>
        <p:txBody>
          <a:bodyPr wrap="none">
            <a:spAutoFit/>
          </a:bodyPr>
          <a:lstStyle/>
          <a:p>
            <a:pPr algn="r">
              <a:defRPr sz="900"/>
            </a:pPr>
            <a:r>
              <a:t>15</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2920" y="228600"/>
            <a:ext cx="11155680" cy="594360"/>
          </a:xfrm>
          <a:prstGeom prst="rect">
            <a:avLst/>
          </a:prstGeom>
          <a:noFill/>
        </p:spPr>
        <p:txBody>
          <a:bodyPr wrap="none">
            <a:spAutoFit/>
          </a:bodyPr>
          <a:lstStyle/>
          <a:p>
            <a:pPr>
              <a:defRPr sz="2800" b="1"/>
            </a:pPr>
            <a:r>
              <a:t>8. Fixed-Size Chunking — Example</a:t>
            </a:r>
          </a:p>
        </p:txBody>
      </p:sp>
      <p:sp>
        <p:nvSpPr>
          <p:cNvPr id="3" name="Rounded Rectangle 2"/>
          <p:cNvSpPr/>
          <p:nvPr/>
        </p:nvSpPr>
        <p:spPr>
          <a:xfrm>
            <a:off x="731520" y="1234440"/>
            <a:ext cx="10698480" cy="5029200"/>
          </a:xfrm>
          <a:prstGeom prst="roundRect">
            <a:avLst/>
          </a:prstGeom>
          <a:solidFill>
            <a:srgbClr val="F5F7FA"/>
          </a:solidFill>
          <a:ln>
            <a:solidFill>
              <a:srgbClr val="BEC3CA"/>
            </a:solidFill>
          </a:ln>
        </p:spPr>
        <p:style>
          <a:lnRef idx="1">
            <a:schemeClr val="accent1"/>
          </a:lnRef>
          <a:fillRef idx="3">
            <a:schemeClr val="accent1"/>
          </a:fillRef>
          <a:effectRef idx="2">
            <a:schemeClr val="accent1"/>
          </a:effectRef>
          <a:fontRef idx="minor">
            <a:schemeClr val="lt1"/>
          </a:fontRef>
        </p:style>
        <p:txBody>
          <a:bodyPr wrap="square" rtlCol="0" anchor="ctr">
            <a:normAutofit/>
          </a:bodyPr>
          <a:lstStyle/>
          <a:p>
            <a:pPr algn="ctr">
              <a:spcAft>
                <a:spcPts val="100"/>
              </a:spcAft>
              <a:defRPr sz="1300">
                <a:latin typeface="Consolas"/>
              </a:defRPr>
            </a:pPr>
            <a:r>
              <a:rPr dirty="0">
                <a:solidFill>
                  <a:schemeClr val="tx1"/>
                </a:solidFill>
              </a:rPr>
              <a:t>Document</a:t>
            </a:r>
          </a:p>
          <a:p>
            <a:pPr>
              <a:spcAft>
                <a:spcPts val="100"/>
              </a:spcAft>
              <a:defRPr sz="1300">
                <a:latin typeface="Consolas"/>
              </a:defRPr>
            </a:pPr>
            <a:r>
              <a:rPr dirty="0">
                <a:solidFill>
                  <a:schemeClr val="tx1"/>
                </a:solidFill>
              </a:rPr>
              <a:t> ↓</a:t>
            </a:r>
          </a:p>
          <a:p>
            <a:pPr>
              <a:spcAft>
                <a:spcPts val="100"/>
              </a:spcAft>
              <a:defRPr sz="1300">
                <a:latin typeface="Consolas"/>
              </a:defRPr>
            </a:pPr>
            <a:r>
              <a:rPr dirty="0">
                <a:solidFill>
                  <a:schemeClr val="tx1"/>
                </a:solidFill>
              </a:rPr>
              <a:t>500 characters → Chunk 1</a:t>
            </a:r>
          </a:p>
          <a:p>
            <a:pPr>
              <a:spcAft>
                <a:spcPts val="100"/>
              </a:spcAft>
              <a:defRPr sz="1300">
                <a:latin typeface="Consolas"/>
              </a:defRPr>
            </a:pPr>
            <a:r>
              <a:rPr dirty="0">
                <a:solidFill>
                  <a:schemeClr val="tx1"/>
                </a:solidFill>
              </a:rPr>
              <a:t>500 characters → Chunk 2</a:t>
            </a:r>
          </a:p>
          <a:p>
            <a:pPr>
              <a:spcAft>
                <a:spcPts val="100"/>
              </a:spcAft>
              <a:defRPr sz="1300">
                <a:latin typeface="Consolas"/>
              </a:defRPr>
            </a:pPr>
            <a:r>
              <a:rPr dirty="0">
                <a:solidFill>
                  <a:schemeClr val="tx1"/>
                </a:solidFill>
              </a:rPr>
              <a:t>500 characters → Chunk 3</a:t>
            </a:r>
          </a:p>
          <a:p>
            <a:pPr>
              <a:spcAft>
                <a:spcPts val="100"/>
              </a:spcAft>
              <a:defRPr sz="1300">
                <a:latin typeface="Consolas"/>
              </a:defRPr>
            </a:pPr>
            <a:r>
              <a:rPr dirty="0">
                <a:solidFill>
                  <a:schemeClr val="tx1"/>
                </a:solidFill>
              </a:rPr>
              <a:t>500 characters → Chunk 4</a:t>
            </a:r>
          </a:p>
          <a:p>
            <a:pPr>
              <a:spcAft>
                <a:spcPts val="100"/>
              </a:spcAft>
              <a:defRPr sz="1300">
                <a:latin typeface="Consolas"/>
              </a:defRPr>
            </a:pPr>
            <a:endParaRPr dirty="0">
              <a:solidFill>
                <a:schemeClr val="tx1"/>
              </a:solidFill>
            </a:endParaRPr>
          </a:p>
          <a:p>
            <a:pPr>
              <a:spcAft>
                <a:spcPts val="100"/>
              </a:spcAft>
              <a:defRPr sz="1300">
                <a:latin typeface="Consolas"/>
              </a:defRPr>
            </a:pPr>
            <a:r>
              <a:rPr dirty="0">
                <a:solidFill>
                  <a:schemeClr val="tx1"/>
                </a:solidFill>
              </a:rPr>
              <a:t>Example:</a:t>
            </a:r>
          </a:p>
          <a:p>
            <a:pPr>
              <a:spcAft>
                <a:spcPts val="100"/>
              </a:spcAft>
              <a:defRPr sz="1300">
                <a:latin typeface="Consolas"/>
              </a:defRPr>
            </a:pPr>
            <a:r>
              <a:rPr dirty="0">
                <a:solidFill>
                  <a:schemeClr val="tx1"/>
                </a:solidFill>
              </a:rPr>
              <a:t>Chunk 1:</a:t>
            </a:r>
          </a:p>
          <a:p>
            <a:pPr>
              <a:spcAft>
                <a:spcPts val="100"/>
              </a:spcAft>
              <a:defRPr sz="1300">
                <a:latin typeface="Consolas"/>
              </a:defRPr>
            </a:pPr>
            <a:r>
              <a:rPr dirty="0">
                <a:solidFill>
                  <a:schemeClr val="tx1"/>
                </a:solidFill>
              </a:rPr>
              <a:t>"Employees can apply for leave by submitting a request to the HR..."</a:t>
            </a:r>
          </a:p>
          <a:p>
            <a:pPr>
              <a:spcAft>
                <a:spcPts val="100"/>
              </a:spcAft>
              <a:defRPr sz="1300">
                <a:latin typeface="Consolas"/>
              </a:defRPr>
            </a:pPr>
            <a:endParaRPr dirty="0">
              <a:solidFill>
                <a:schemeClr val="tx1"/>
              </a:solidFill>
            </a:endParaRPr>
          </a:p>
          <a:p>
            <a:pPr>
              <a:spcAft>
                <a:spcPts val="100"/>
              </a:spcAft>
              <a:defRPr sz="1300">
                <a:latin typeface="Consolas"/>
              </a:defRPr>
            </a:pPr>
            <a:r>
              <a:rPr dirty="0">
                <a:solidFill>
                  <a:schemeClr val="tx1"/>
                </a:solidFill>
              </a:rPr>
              <a:t>Chunk 2:</a:t>
            </a:r>
          </a:p>
          <a:p>
            <a:pPr>
              <a:spcAft>
                <a:spcPts val="100"/>
              </a:spcAft>
              <a:defRPr sz="1300">
                <a:latin typeface="Consolas"/>
              </a:defRPr>
            </a:pPr>
            <a:r>
              <a:rPr dirty="0">
                <a:solidFill>
                  <a:schemeClr val="tx1"/>
                </a:solidFill>
              </a:rPr>
              <a:t>"...department at least three days before the leave date."</a:t>
            </a:r>
          </a:p>
          <a:p>
            <a:pPr>
              <a:spcAft>
                <a:spcPts val="100"/>
              </a:spcAft>
              <a:defRPr sz="1300">
                <a:latin typeface="Consolas"/>
              </a:defRPr>
            </a:pPr>
            <a:endParaRPr dirty="0">
              <a:solidFill>
                <a:schemeClr val="tx1"/>
              </a:solidFill>
            </a:endParaRPr>
          </a:p>
          <a:p>
            <a:pPr>
              <a:spcAft>
                <a:spcPts val="100"/>
              </a:spcAft>
              <a:defRPr sz="1300">
                <a:latin typeface="Consolas"/>
              </a:defRPr>
            </a:pPr>
            <a:r>
              <a:rPr dirty="0">
                <a:solidFill>
                  <a:schemeClr val="tx1"/>
                </a:solidFill>
              </a:rPr>
              <a:t>The meaning has been split.</a:t>
            </a:r>
          </a:p>
        </p:txBody>
      </p:sp>
      <p:sp>
        <p:nvSpPr>
          <p:cNvPr id="4" name="Rectangle 3"/>
          <p:cNvSpPr/>
          <p:nvPr/>
        </p:nvSpPr>
        <p:spPr>
          <a:xfrm>
            <a:off x="502920" y="6565392"/>
            <a:ext cx="11155680" cy="13716"/>
          </a:xfrm>
          <a:prstGeom prst="rect">
            <a:avLst/>
          </a:prstGeom>
          <a:solidFill>
            <a:srgbClr val="D2D6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0607040" y="6601968"/>
            <a:ext cx="1005840" cy="182880"/>
          </a:xfrm>
          <a:prstGeom prst="rect">
            <a:avLst/>
          </a:prstGeom>
          <a:noFill/>
        </p:spPr>
        <p:txBody>
          <a:bodyPr wrap="none">
            <a:spAutoFit/>
          </a:bodyPr>
          <a:lstStyle/>
          <a:p>
            <a:pPr algn="r">
              <a:defRPr sz="900"/>
            </a:pPr>
            <a:r>
              <a:t>16</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2920" y="228600"/>
            <a:ext cx="11155680" cy="594360"/>
          </a:xfrm>
          <a:prstGeom prst="rect">
            <a:avLst/>
          </a:prstGeom>
          <a:noFill/>
        </p:spPr>
        <p:txBody>
          <a:bodyPr wrap="none">
            <a:spAutoFit/>
          </a:bodyPr>
          <a:lstStyle/>
          <a:p>
            <a:pPr>
              <a:defRPr sz="2800" b="1"/>
            </a:pPr>
            <a:r>
              <a:t>9. Recursive Chunking</a:t>
            </a:r>
          </a:p>
        </p:txBody>
      </p:sp>
      <p:sp>
        <p:nvSpPr>
          <p:cNvPr id="3" name="TextBox 2"/>
          <p:cNvSpPr txBox="1"/>
          <p:nvPr/>
        </p:nvSpPr>
        <p:spPr>
          <a:xfrm>
            <a:off x="594360" y="1051560"/>
            <a:ext cx="10972800" cy="5303520"/>
          </a:xfrm>
          <a:prstGeom prst="rect">
            <a:avLst/>
          </a:prstGeom>
          <a:noFill/>
        </p:spPr>
        <p:txBody>
          <a:bodyPr wrap="square">
            <a:normAutofit/>
          </a:bodyPr>
          <a:lstStyle/>
          <a:p>
            <a:pPr>
              <a:spcAft>
                <a:spcPts val="600"/>
              </a:spcAft>
              <a:defRPr sz="1700"/>
            </a:pPr>
            <a:r>
              <a:t>Recursive chunking is generally more intelligent.</a:t>
            </a:r>
          </a:p>
          <a:p>
            <a:pPr>
              <a:spcAft>
                <a:spcPts val="600"/>
              </a:spcAft>
              <a:defRPr sz="1700"/>
            </a:pPr>
            <a:endParaRPr/>
          </a:p>
          <a:p>
            <a:pPr>
              <a:spcAft>
                <a:spcPts val="600"/>
              </a:spcAft>
              <a:defRPr sz="1700"/>
            </a:pPr>
            <a:r>
              <a:t>Instead of blindly cutting text, it attempts to split according to natural boundaries.</a:t>
            </a:r>
          </a:p>
          <a:p>
            <a:pPr>
              <a:spcAft>
                <a:spcPts val="600"/>
              </a:spcAft>
              <a:defRPr sz="1700"/>
            </a:pPr>
            <a:endParaRPr/>
          </a:p>
          <a:p>
            <a:pPr>
              <a:spcAft>
                <a:spcPts val="600"/>
              </a:spcAft>
              <a:defRPr sz="1700"/>
            </a:pPr>
            <a:r>
              <a:t>For example:</a:t>
            </a:r>
          </a:p>
          <a:p>
            <a:pPr>
              <a:spcAft>
                <a:spcPts val="600"/>
              </a:spcAft>
              <a:defRPr sz="1700"/>
            </a:pPr>
            <a:r>
              <a:t>Document</a:t>
            </a:r>
          </a:p>
          <a:p>
            <a:pPr>
              <a:spcAft>
                <a:spcPts val="600"/>
              </a:spcAft>
              <a:defRPr sz="1700"/>
            </a:pPr>
            <a:r>
              <a:t> ↓</a:t>
            </a:r>
          </a:p>
          <a:p>
            <a:pPr>
              <a:spcAft>
                <a:spcPts val="600"/>
              </a:spcAft>
              <a:defRPr sz="1700"/>
            </a:pPr>
            <a:r>
              <a:t>Paragraph</a:t>
            </a:r>
          </a:p>
          <a:p>
            <a:pPr>
              <a:spcAft>
                <a:spcPts val="600"/>
              </a:spcAft>
              <a:defRPr sz="1700"/>
            </a:pPr>
            <a:r>
              <a:t> ↓</a:t>
            </a:r>
          </a:p>
          <a:p>
            <a:pPr>
              <a:spcAft>
                <a:spcPts val="600"/>
              </a:spcAft>
              <a:defRPr sz="1700"/>
            </a:pPr>
            <a:r>
              <a:t>Sentence</a:t>
            </a:r>
          </a:p>
          <a:p>
            <a:pPr>
              <a:spcAft>
                <a:spcPts val="600"/>
              </a:spcAft>
              <a:defRPr sz="1700"/>
            </a:pPr>
            <a:r>
              <a:t> ↓</a:t>
            </a:r>
          </a:p>
          <a:p>
            <a:pPr>
              <a:spcAft>
                <a:spcPts val="600"/>
              </a:spcAft>
              <a:defRPr sz="1700"/>
            </a:pPr>
            <a:r>
              <a:t>Words</a:t>
            </a:r>
          </a:p>
          <a:p>
            <a:pPr>
              <a:spcAft>
                <a:spcPts val="600"/>
              </a:spcAft>
              <a:defRPr sz="1700"/>
            </a:pPr>
            <a:endParaRPr/>
          </a:p>
          <a:p>
            <a:pPr>
              <a:spcAft>
                <a:spcPts val="600"/>
              </a:spcAft>
              <a:defRPr sz="1700"/>
            </a:pPr>
            <a:r>
              <a:t>Conceptually:</a:t>
            </a:r>
          </a:p>
          <a:p>
            <a:pPr>
              <a:spcAft>
                <a:spcPts val="600"/>
              </a:spcAft>
              <a:defRPr sz="1700"/>
            </a:pPr>
            <a:r>
              <a:t>Try paragraph split</a:t>
            </a:r>
          </a:p>
          <a:p>
            <a:pPr>
              <a:spcAft>
                <a:spcPts val="600"/>
              </a:spcAft>
              <a:defRPr sz="1700"/>
            </a:pPr>
            <a:r>
              <a:t>      ↓</a:t>
            </a:r>
          </a:p>
          <a:p>
            <a:pPr>
              <a:spcAft>
                <a:spcPts val="600"/>
              </a:spcAft>
              <a:defRPr sz="1700"/>
            </a:pPr>
            <a:r>
              <a:t>If still too large</a:t>
            </a:r>
          </a:p>
          <a:p>
            <a:pPr>
              <a:spcAft>
                <a:spcPts val="600"/>
              </a:spcAft>
              <a:defRPr sz="1700"/>
            </a:pPr>
            <a:r>
              <a:t>      ↓</a:t>
            </a:r>
          </a:p>
          <a:p>
            <a:pPr>
              <a:spcAft>
                <a:spcPts val="600"/>
              </a:spcAft>
              <a:defRPr sz="1700"/>
            </a:pPr>
            <a:r>
              <a:t>Try sentence split</a:t>
            </a:r>
          </a:p>
          <a:p>
            <a:pPr>
              <a:spcAft>
                <a:spcPts val="600"/>
              </a:spcAft>
              <a:defRPr sz="1700"/>
            </a:pPr>
            <a:r>
              <a:t>      ↓</a:t>
            </a:r>
          </a:p>
          <a:p>
            <a:pPr>
              <a:spcAft>
                <a:spcPts val="600"/>
              </a:spcAft>
              <a:defRPr sz="1700"/>
            </a:pPr>
            <a:r>
              <a:t>If still too large</a:t>
            </a:r>
          </a:p>
          <a:p>
            <a:pPr>
              <a:spcAft>
                <a:spcPts val="600"/>
              </a:spcAft>
              <a:defRPr sz="1700"/>
            </a:pPr>
            <a:r>
              <a:t>      ↓</a:t>
            </a:r>
          </a:p>
          <a:p>
            <a:pPr>
              <a:spcAft>
                <a:spcPts val="600"/>
              </a:spcAft>
              <a:defRPr sz="1700"/>
            </a:pPr>
            <a:r>
              <a:t>Try smaller separators</a:t>
            </a:r>
          </a:p>
          <a:p>
            <a:pPr>
              <a:spcAft>
                <a:spcPts val="600"/>
              </a:spcAft>
              <a:defRPr sz="1700"/>
            </a:pPr>
            <a:endParaRPr/>
          </a:p>
          <a:p>
            <a:pPr>
              <a:spcAft>
                <a:spcPts val="600"/>
              </a:spcAft>
              <a:defRPr sz="1700"/>
            </a:pPr>
            <a:r>
              <a:t>This is why recursive chunking is commonly used in RAG applications.</a:t>
            </a:r>
          </a:p>
          <a:p>
            <a:pPr>
              <a:spcAft>
                <a:spcPts val="600"/>
              </a:spcAft>
              <a:defRPr sz="1700"/>
            </a:pPr>
            <a:endParaRPr/>
          </a:p>
          <a:p>
            <a:pPr>
              <a:spcAft>
                <a:spcPts val="600"/>
              </a:spcAft>
              <a:defRPr sz="1700"/>
            </a:pPr>
            <a:r>
              <a:t>Example:</a:t>
            </a:r>
          </a:p>
          <a:p>
            <a:pPr>
              <a:spcAft>
                <a:spcPts val="600"/>
              </a:spcAft>
              <a:defRPr sz="1700"/>
            </a:pPr>
            <a:r>
              <a:t>Chapter</a:t>
            </a:r>
          </a:p>
          <a:p>
            <a:pPr>
              <a:spcAft>
                <a:spcPts val="600"/>
              </a:spcAft>
              <a:defRPr sz="1700"/>
            </a:pPr>
            <a:r>
              <a:t>   ↓</a:t>
            </a:r>
          </a:p>
          <a:p>
            <a:pPr>
              <a:spcAft>
                <a:spcPts val="600"/>
              </a:spcAft>
              <a:defRPr sz="1700"/>
            </a:pPr>
            <a:r>
              <a:t>Section</a:t>
            </a:r>
          </a:p>
          <a:p>
            <a:pPr>
              <a:spcAft>
                <a:spcPts val="600"/>
              </a:spcAft>
              <a:defRPr sz="1700"/>
            </a:pPr>
            <a:r>
              <a:t>   ↓</a:t>
            </a:r>
          </a:p>
          <a:p>
            <a:pPr>
              <a:spcAft>
                <a:spcPts val="600"/>
              </a:spcAft>
              <a:defRPr sz="1700"/>
            </a:pPr>
            <a:r>
              <a:t>Paragraph</a:t>
            </a:r>
          </a:p>
          <a:p>
            <a:pPr>
              <a:spcAft>
                <a:spcPts val="600"/>
              </a:spcAft>
              <a:defRPr sz="1700"/>
            </a:pPr>
            <a:r>
              <a:t>   ↓</a:t>
            </a:r>
          </a:p>
          <a:p>
            <a:pPr>
              <a:spcAft>
                <a:spcPts val="600"/>
              </a:spcAft>
              <a:defRPr sz="1700"/>
            </a:pPr>
            <a:r>
              <a:t>Sentence</a:t>
            </a:r>
          </a:p>
          <a:p>
            <a:pPr>
              <a:spcAft>
                <a:spcPts val="600"/>
              </a:spcAft>
              <a:defRPr sz="1700"/>
            </a:pPr>
            <a:endParaRPr/>
          </a:p>
          <a:p>
            <a:pPr>
              <a:spcAft>
                <a:spcPts val="600"/>
              </a:spcAft>
              <a:defRPr sz="1700"/>
            </a:pPr>
            <a:r>
              <a:t>Recursive splitting tries to preserve this structure as much as possible.</a:t>
            </a:r>
          </a:p>
        </p:txBody>
      </p:sp>
      <p:sp>
        <p:nvSpPr>
          <p:cNvPr id="4" name="Rectangle 3"/>
          <p:cNvSpPr/>
          <p:nvPr/>
        </p:nvSpPr>
        <p:spPr>
          <a:xfrm>
            <a:off x="502920" y="6565392"/>
            <a:ext cx="11155680" cy="13716"/>
          </a:xfrm>
          <a:prstGeom prst="rect">
            <a:avLst/>
          </a:prstGeom>
          <a:solidFill>
            <a:srgbClr val="D2D6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0607040" y="6601968"/>
            <a:ext cx="1005840" cy="182880"/>
          </a:xfrm>
          <a:prstGeom prst="rect">
            <a:avLst/>
          </a:prstGeom>
          <a:noFill/>
        </p:spPr>
        <p:txBody>
          <a:bodyPr wrap="none">
            <a:spAutoFit/>
          </a:bodyPr>
          <a:lstStyle/>
          <a:p>
            <a:pPr algn="r">
              <a:defRPr sz="900"/>
            </a:pPr>
            <a:r>
              <a:t>17</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2920" y="228600"/>
            <a:ext cx="11155680" cy="594360"/>
          </a:xfrm>
          <a:prstGeom prst="rect">
            <a:avLst/>
          </a:prstGeom>
          <a:noFill/>
        </p:spPr>
        <p:txBody>
          <a:bodyPr wrap="none">
            <a:spAutoFit/>
          </a:bodyPr>
          <a:lstStyle/>
          <a:p>
            <a:pPr>
              <a:defRPr sz="2800" b="1"/>
            </a:pPr>
            <a:r>
              <a:t>10. Token Chunking</a:t>
            </a:r>
          </a:p>
        </p:txBody>
      </p:sp>
      <p:sp>
        <p:nvSpPr>
          <p:cNvPr id="3" name="TextBox 2"/>
          <p:cNvSpPr txBox="1"/>
          <p:nvPr/>
        </p:nvSpPr>
        <p:spPr>
          <a:xfrm>
            <a:off x="594360" y="1051560"/>
            <a:ext cx="10972800" cy="5303520"/>
          </a:xfrm>
          <a:prstGeom prst="rect">
            <a:avLst/>
          </a:prstGeom>
          <a:noFill/>
        </p:spPr>
        <p:txBody>
          <a:bodyPr wrap="square">
            <a:normAutofit/>
          </a:bodyPr>
          <a:lstStyle/>
          <a:p>
            <a:pPr>
              <a:spcAft>
                <a:spcPts val="600"/>
              </a:spcAft>
              <a:defRPr sz="1700"/>
            </a:pPr>
            <a:r>
              <a:t>LLMs work with tokens.</a:t>
            </a:r>
          </a:p>
          <a:p>
            <a:pPr>
              <a:spcAft>
                <a:spcPts val="600"/>
              </a:spcAft>
              <a:defRPr sz="1700"/>
            </a:pPr>
            <a:endParaRPr/>
          </a:p>
          <a:p>
            <a:pPr>
              <a:spcAft>
                <a:spcPts val="600"/>
              </a:spcAft>
              <a:defRPr sz="1700"/>
            </a:pPr>
            <a:r>
              <a:t>So instead of saying:</a:t>
            </a:r>
          </a:p>
          <a:p>
            <a:pPr>
              <a:spcAft>
                <a:spcPts val="600"/>
              </a:spcAft>
              <a:defRPr sz="1700"/>
            </a:pPr>
            <a:r>
              <a:t>500 characters</a:t>
            </a:r>
          </a:p>
          <a:p>
            <a:pPr>
              <a:spcAft>
                <a:spcPts val="600"/>
              </a:spcAft>
              <a:defRPr sz="1700"/>
            </a:pPr>
            <a:endParaRPr/>
          </a:p>
          <a:p>
            <a:pPr>
              <a:spcAft>
                <a:spcPts val="600"/>
              </a:spcAft>
              <a:defRPr sz="1700"/>
            </a:pPr>
            <a:r>
              <a:t>we can define:</a:t>
            </a:r>
          </a:p>
          <a:p>
            <a:pPr>
              <a:spcAft>
                <a:spcPts val="600"/>
              </a:spcAft>
              <a:defRPr sz="1700"/>
            </a:pPr>
            <a:r>
              <a:t>500 tokens</a:t>
            </a:r>
          </a:p>
          <a:p>
            <a:pPr>
              <a:spcAft>
                <a:spcPts val="600"/>
              </a:spcAft>
              <a:defRPr sz="1700"/>
            </a:pPr>
            <a:endParaRPr/>
          </a:p>
          <a:p>
            <a:pPr>
              <a:spcAft>
                <a:spcPts val="600"/>
              </a:spcAft>
              <a:defRPr sz="1700"/>
            </a:pPr>
            <a:r>
              <a:t>Example:</a:t>
            </a:r>
          </a:p>
          <a:p>
            <a:pPr>
              <a:spcAft>
                <a:spcPts val="600"/>
              </a:spcAft>
              <a:defRPr sz="1700"/>
            </a:pPr>
            <a:r>
              <a:t>Chunk size = 500 tokens</a:t>
            </a:r>
          </a:p>
          <a:p>
            <a:pPr>
              <a:spcAft>
                <a:spcPts val="600"/>
              </a:spcAft>
              <a:defRPr sz="1700"/>
            </a:pPr>
            <a:r>
              <a:t>Overlap = 50 tokens</a:t>
            </a:r>
          </a:p>
          <a:p>
            <a:pPr>
              <a:spcAft>
                <a:spcPts val="600"/>
              </a:spcAft>
              <a:defRPr sz="1700"/>
            </a:pPr>
            <a:endParaRPr/>
          </a:p>
          <a:p>
            <a:pPr>
              <a:spcAft>
                <a:spcPts val="600"/>
              </a:spcAft>
              <a:defRPr sz="1700"/>
            </a:pPr>
            <a:r>
              <a:t>This is useful when we need tighter control over the amount of context passed to the model.</a:t>
            </a:r>
          </a:p>
          <a:p>
            <a:pPr>
              <a:spcAft>
                <a:spcPts val="600"/>
              </a:spcAft>
              <a:defRPr sz="1700"/>
            </a:pPr>
            <a:endParaRPr/>
          </a:p>
          <a:p>
            <a:pPr>
              <a:spcAft>
                <a:spcPts val="600"/>
              </a:spcAft>
              <a:defRPr sz="1700"/>
            </a:pPr>
            <a:r>
              <a:t>Important distinction:</a:t>
            </a:r>
          </a:p>
          <a:p>
            <a:pPr>
              <a:spcAft>
                <a:spcPts val="600"/>
              </a:spcAft>
              <a:defRPr sz="1700"/>
            </a:pPr>
            <a:r>
              <a:t>Characters ≠ Words ≠ Tokens</a:t>
            </a:r>
          </a:p>
          <a:p>
            <a:pPr>
              <a:spcAft>
                <a:spcPts val="600"/>
              </a:spcAft>
              <a:defRPr sz="1700"/>
            </a:pPr>
            <a:endParaRPr/>
          </a:p>
          <a:p>
            <a:pPr>
              <a:spcAft>
                <a:spcPts val="600"/>
              </a:spcAft>
              <a:defRPr sz="1700"/>
            </a:pPr>
            <a:r>
              <a:t>A token can represent a whole word, part of a word, punctuation, etc.</a:t>
            </a:r>
          </a:p>
        </p:txBody>
      </p:sp>
      <p:sp>
        <p:nvSpPr>
          <p:cNvPr id="4" name="Rectangle 3"/>
          <p:cNvSpPr/>
          <p:nvPr/>
        </p:nvSpPr>
        <p:spPr>
          <a:xfrm>
            <a:off x="502920" y="6565392"/>
            <a:ext cx="11155680" cy="13716"/>
          </a:xfrm>
          <a:prstGeom prst="rect">
            <a:avLst/>
          </a:prstGeom>
          <a:solidFill>
            <a:srgbClr val="D2D6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0607040" y="6601968"/>
            <a:ext cx="1005840" cy="182880"/>
          </a:xfrm>
          <a:prstGeom prst="rect">
            <a:avLst/>
          </a:prstGeom>
          <a:noFill/>
        </p:spPr>
        <p:txBody>
          <a:bodyPr wrap="none">
            <a:spAutoFit/>
          </a:bodyPr>
          <a:lstStyle/>
          <a:p>
            <a:pPr algn="r">
              <a:defRPr sz="900"/>
            </a:pPr>
            <a:r>
              <a:t>18</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2920" y="228600"/>
            <a:ext cx="11155680" cy="594360"/>
          </a:xfrm>
          <a:prstGeom prst="rect">
            <a:avLst/>
          </a:prstGeom>
          <a:noFill/>
        </p:spPr>
        <p:txBody>
          <a:bodyPr wrap="none">
            <a:spAutoFit/>
          </a:bodyPr>
          <a:lstStyle/>
          <a:p>
            <a:pPr>
              <a:defRPr sz="2800" b="1"/>
            </a:pPr>
            <a:r>
              <a:t>11. Chunk Overlap</a:t>
            </a:r>
          </a:p>
        </p:txBody>
      </p:sp>
      <p:sp>
        <p:nvSpPr>
          <p:cNvPr id="3" name="TextBox 2"/>
          <p:cNvSpPr txBox="1"/>
          <p:nvPr/>
        </p:nvSpPr>
        <p:spPr>
          <a:xfrm>
            <a:off x="594360" y="1051560"/>
            <a:ext cx="10972800" cy="5303520"/>
          </a:xfrm>
          <a:prstGeom prst="rect">
            <a:avLst/>
          </a:prstGeom>
          <a:noFill/>
        </p:spPr>
        <p:txBody>
          <a:bodyPr wrap="square">
            <a:normAutofit/>
          </a:bodyPr>
          <a:lstStyle/>
          <a:p>
            <a:pPr>
              <a:spcAft>
                <a:spcPts val="600"/>
              </a:spcAft>
              <a:defRPr sz="1700"/>
            </a:pPr>
            <a:r>
              <a:t>This is another very important RAG concept.</a:t>
            </a:r>
          </a:p>
          <a:p>
            <a:pPr>
              <a:spcAft>
                <a:spcPts val="600"/>
              </a:spcAft>
              <a:defRPr sz="1700"/>
            </a:pPr>
            <a:endParaRPr/>
          </a:p>
          <a:p>
            <a:pPr>
              <a:spcAft>
                <a:spcPts val="600"/>
              </a:spcAft>
              <a:defRPr sz="1700"/>
            </a:pPr>
            <a:r>
              <a:t>Suppose:</a:t>
            </a:r>
          </a:p>
          <a:p>
            <a:pPr>
              <a:spcAft>
                <a:spcPts val="600"/>
              </a:spcAft>
              <a:defRPr sz="1700"/>
            </a:pPr>
            <a:r>
              <a:t>Chunk size = 500 tokens</a:t>
            </a:r>
          </a:p>
          <a:p>
            <a:pPr>
              <a:spcAft>
                <a:spcPts val="600"/>
              </a:spcAft>
              <a:defRPr sz="1700"/>
            </a:pPr>
            <a:r>
              <a:t>Overlap = 50 tokens</a:t>
            </a:r>
          </a:p>
          <a:p>
            <a:pPr>
              <a:spcAft>
                <a:spcPts val="600"/>
              </a:spcAft>
              <a:defRPr sz="1700"/>
            </a:pPr>
            <a:endParaRPr/>
          </a:p>
          <a:p>
            <a:pPr>
              <a:spcAft>
                <a:spcPts val="600"/>
              </a:spcAft>
              <a:defRPr sz="1700"/>
            </a:pPr>
            <a:r>
              <a:t>The last 50 tokens of Chunk 1 are repeated at the beginning of Chunk 2.</a:t>
            </a:r>
          </a:p>
          <a:p>
            <a:pPr>
              <a:spcAft>
                <a:spcPts val="600"/>
              </a:spcAft>
              <a:defRPr sz="1700"/>
            </a:pPr>
            <a:endParaRPr/>
          </a:p>
          <a:p>
            <a:pPr>
              <a:spcAft>
                <a:spcPts val="600"/>
              </a:spcAft>
              <a:defRPr sz="1700"/>
            </a:pPr>
            <a:r>
              <a:t>Why?</a:t>
            </a:r>
          </a:p>
          <a:p>
            <a:pPr>
              <a:spcAft>
                <a:spcPts val="600"/>
              </a:spcAft>
              <a:defRPr sz="1700"/>
            </a:pPr>
            <a:r>
              <a:t>To prevent important information from being lost at chunk boundaries.</a:t>
            </a:r>
          </a:p>
          <a:p>
            <a:pPr>
              <a:spcAft>
                <a:spcPts val="600"/>
              </a:spcAft>
              <a:defRPr sz="1700"/>
            </a:pPr>
            <a:endParaRPr/>
          </a:p>
          <a:p>
            <a:pPr>
              <a:spcAft>
                <a:spcPts val="600"/>
              </a:spcAft>
              <a:defRPr sz="1700"/>
            </a:pPr>
            <a:r>
              <a:t>Example:</a:t>
            </a:r>
          </a:p>
          <a:p>
            <a:pPr>
              <a:spcAft>
                <a:spcPts val="600"/>
              </a:spcAft>
              <a:defRPr sz="1700"/>
            </a:pPr>
            <a:r>
              <a:t>Chunk 1:</a:t>
            </a:r>
          </a:p>
          <a:p>
            <a:pPr>
              <a:spcAft>
                <a:spcPts val="600"/>
              </a:spcAft>
              <a:defRPr sz="1700"/>
            </a:pPr>
            <a:r>
              <a:t>"Employees can claim medical reimbursement if they submit..."</a:t>
            </a:r>
          </a:p>
          <a:p>
            <a:pPr>
              <a:spcAft>
                <a:spcPts val="600"/>
              </a:spcAft>
              <a:defRPr sz="1700"/>
            </a:pPr>
            <a:endParaRPr/>
          </a:p>
          <a:p>
            <a:pPr>
              <a:spcAft>
                <a:spcPts val="600"/>
              </a:spcAft>
              <a:defRPr sz="1700"/>
            </a:pPr>
            <a:r>
              <a:t>Chunk 2:</a:t>
            </a:r>
          </a:p>
          <a:p>
            <a:pPr>
              <a:spcAft>
                <a:spcPts val="600"/>
              </a:spcAft>
              <a:defRPr sz="1700"/>
            </a:pPr>
            <a:r>
              <a:t>"...medical bills within 30 days of treatment."</a:t>
            </a:r>
          </a:p>
          <a:p>
            <a:pPr>
              <a:spcAft>
                <a:spcPts val="600"/>
              </a:spcAft>
              <a:defRPr sz="1700"/>
            </a:pPr>
            <a:endParaRPr/>
          </a:p>
          <a:p>
            <a:pPr>
              <a:spcAft>
                <a:spcPts val="600"/>
              </a:spcAft>
              <a:defRPr sz="1700"/>
            </a:pPr>
            <a:r>
              <a:t>Without overlap, the relationship might be weakened.</a:t>
            </a:r>
          </a:p>
          <a:p>
            <a:pPr>
              <a:spcAft>
                <a:spcPts val="600"/>
              </a:spcAft>
              <a:defRPr sz="1700"/>
            </a:pPr>
            <a:r>
              <a:t>With overlap, some surrounding context is preserved.</a:t>
            </a:r>
          </a:p>
          <a:p>
            <a:pPr>
              <a:spcAft>
                <a:spcPts val="600"/>
              </a:spcAft>
              <a:defRPr sz="1700"/>
            </a:pPr>
            <a:endParaRPr/>
          </a:p>
          <a:p>
            <a:pPr>
              <a:spcAft>
                <a:spcPts val="600"/>
              </a:spcAft>
              <a:defRPr sz="1700"/>
            </a:pPr>
            <a:r>
              <a:t>Tell students:</a:t>
            </a:r>
          </a:p>
          <a:p>
            <a:pPr>
              <a:spcAft>
                <a:spcPts val="600"/>
              </a:spcAft>
              <a:defRPr sz="1700"/>
            </a:pPr>
            <a:r>
              <a:t>Chunk overlap helps preserve context between neighboring chunks.</a:t>
            </a:r>
          </a:p>
        </p:txBody>
      </p:sp>
      <p:sp>
        <p:nvSpPr>
          <p:cNvPr id="4" name="Rectangle 3"/>
          <p:cNvSpPr/>
          <p:nvPr/>
        </p:nvSpPr>
        <p:spPr>
          <a:xfrm>
            <a:off x="502920" y="6565392"/>
            <a:ext cx="11155680" cy="13716"/>
          </a:xfrm>
          <a:prstGeom prst="rect">
            <a:avLst/>
          </a:prstGeom>
          <a:solidFill>
            <a:srgbClr val="D2D6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0607040" y="6601968"/>
            <a:ext cx="1005840" cy="182880"/>
          </a:xfrm>
          <a:prstGeom prst="rect">
            <a:avLst/>
          </a:prstGeom>
          <a:noFill/>
        </p:spPr>
        <p:txBody>
          <a:bodyPr wrap="none">
            <a:spAutoFit/>
          </a:bodyPr>
          <a:lstStyle/>
          <a:p>
            <a:pPr algn="r">
              <a:defRPr sz="900"/>
            </a:pPr>
            <a:r>
              <a:t>19</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2920" y="228600"/>
            <a:ext cx="11155680" cy="594360"/>
          </a:xfrm>
          <a:prstGeom prst="rect">
            <a:avLst/>
          </a:prstGeom>
          <a:noFill/>
        </p:spPr>
        <p:txBody>
          <a:bodyPr wrap="none">
            <a:spAutoFit/>
          </a:bodyPr>
          <a:lstStyle/>
          <a:p>
            <a:pPr>
              <a:defRPr sz="2800" b="1"/>
            </a:pPr>
            <a:r>
              <a:t>11. Chunk Overlap — Visual</a:t>
            </a:r>
          </a:p>
        </p:txBody>
      </p:sp>
      <p:sp>
        <p:nvSpPr>
          <p:cNvPr id="3" name="Rounded Rectangle 2"/>
          <p:cNvSpPr/>
          <p:nvPr/>
        </p:nvSpPr>
        <p:spPr>
          <a:xfrm>
            <a:off x="731520" y="1234440"/>
            <a:ext cx="10698480" cy="5029200"/>
          </a:xfrm>
          <a:prstGeom prst="roundRect">
            <a:avLst/>
          </a:prstGeom>
          <a:solidFill>
            <a:srgbClr val="F5F7FA"/>
          </a:solidFill>
          <a:ln>
            <a:solidFill>
              <a:srgbClr val="BEC3CA"/>
            </a:solidFill>
          </a:ln>
        </p:spPr>
        <p:style>
          <a:lnRef idx="1">
            <a:schemeClr val="accent1"/>
          </a:lnRef>
          <a:fillRef idx="3">
            <a:schemeClr val="accent1"/>
          </a:fillRef>
          <a:effectRef idx="2">
            <a:schemeClr val="accent1"/>
          </a:effectRef>
          <a:fontRef idx="minor">
            <a:schemeClr val="lt1"/>
          </a:fontRef>
        </p:style>
        <p:txBody>
          <a:bodyPr wrap="square" rtlCol="0" anchor="ctr">
            <a:normAutofit/>
          </a:bodyPr>
          <a:lstStyle/>
          <a:p>
            <a:pPr algn="ctr">
              <a:spcAft>
                <a:spcPts val="100"/>
              </a:spcAft>
              <a:defRPr sz="1300">
                <a:latin typeface="Consolas"/>
              </a:defRPr>
            </a:pPr>
            <a:r>
              <a:rPr>
                <a:solidFill>
                  <a:schemeClr val="tx1"/>
                </a:solidFill>
              </a:rPr>
              <a:t>Chunk 1</a:t>
            </a:r>
          </a:p>
          <a:p>
            <a:pPr>
              <a:spcAft>
                <a:spcPts val="100"/>
              </a:spcAft>
              <a:defRPr sz="1300">
                <a:latin typeface="Consolas"/>
              </a:defRPr>
            </a:pPr>
            <a:r>
              <a:rPr>
                <a:solidFill>
                  <a:schemeClr val="tx1"/>
                </a:solidFill>
              </a:rPr>
              <a:t>[------------------------------]</a:t>
            </a:r>
          </a:p>
          <a:p>
            <a:pPr>
              <a:spcAft>
                <a:spcPts val="100"/>
              </a:spcAft>
              <a:defRPr sz="1300">
                <a:latin typeface="Consolas"/>
              </a:defRPr>
            </a:pPr>
            <a:r>
              <a:rPr>
                <a:solidFill>
                  <a:schemeClr val="tx1"/>
                </a:solidFill>
              </a:rPr>
              <a:t>              500 tokens</a:t>
            </a:r>
          </a:p>
          <a:p>
            <a:pPr>
              <a:spcAft>
                <a:spcPts val="100"/>
              </a:spcAft>
              <a:defRPr sz="1300">
                <a:latin typeface="Consolas"/>
              </a:defRPr>
            </a:pPr>
            <a:endParaRPr>
              <a:solidFill>
                <a:schemeClr val="tx1"/>
              </a:solidFill>
            </a:endParaRPr>
          </a:p>
          <a:p>
            <a:pPr>
              <a:spcAft>
                <a:spcPts val="100"/>
              </a:spcAft>
              <a:defRPr sz="1300">
                <a:latin typeface="Consolas"/>
              </a:defRPr>
            </a:pPr>
            <a:r>
              <a:rPr>
                <a:solidFill>
                  <a:schemeClr val="tx1"/>
                </a:solidFill>
              </a:rPr>
              <a:t>Chunk 2</a:t>
            </a:r>
          </a:p>
          <a:p>
            <a:pPr>
              <a:spcAft>
                <a:spcPts val="100"/>
              </a:spcAft>
              <a:defRPr sz="1300">
                <a:latin typeface="Consolas"/>
              </a:defRPr>
            </a:pPr>
            <a:r>
              <a:rPr>
                <a:solidFill>
                  <a:schemeClr val="tx1"/>
                </a:solidFill>
              </a:rPr>
              <a:t>                    [------------------------------]</a:t>
            </a:r>
          </a:p>
          <a:p>
            <a:pPr>
              <a:spcAft>
                <a:spcPts val="100"/>
              </a:spcAft>
              <a:defRPr sz="1300">
                <a:latin typeface="Consolas"/>
              </a:defRPr>
            </a:pPr>
            <a:r>
              <a:rPr>
                <a:solidFill>
                  <a:schemeClr val="tx1"/>
                </a:solidFill>
              </a:rPr>
              <a:t>                    ↑</a:t>
            </a:r>
          </a:p>
          <a:p>
            <a:pPr>
              <a:spcAft>
                <a:spcPts val="100"/>
              </a:spcAft>
              <a:defRPr sz="1300">
                <a:latin typeface="Consolas"/>
              </a:defRPr>
            </a:pPr>
            <a:r>
              <a:rPr>
                <a:solidFill>
                  <a:schemeClr val="tx1"/>
                </a:solidFill>
              </a:rPr>
              <a:t>                  50-token overlap</a:t>
            </a:r>
          </a:p>
        </p:txBody>
      </p:sp>
      <p:sp>
        <p:nvSpPr>
          <p:cNvPr id="4" name="Rectangle 3"/>
          <p:cNvSpPr/>
          <p:nvPr/>
        </p:nvSpPr>
        <p:spPr>
          <a:xfrm>
            <a:off x="502920" y="6565392"/>
            <a:ext cx="11155680" cy="13716"/>
          </a:xfrm>
          <a:prstGeom prst="rect">
            <a:avLst/>
          </a:prstGeom>
          <a:solidFill>
            <a:srgbClr val="D2D6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0607040" y="6601968"/>
            <a:ext cx="1005840" cy="182880"/>
          </a:xfrm>
          <a:prstGeom prst="rect">
            <a:avLst/>
          </a:prstGeom>
          <a:noFill/>
        </p:spPr>
        <p:txBody>
          <a:bodyPr wrap="none">
            <a:spAutoFit/>
          </a:bodyPr>
          <a:lstStyle/>
          <a:p>
            <a:pPr algn="r">
              <a:defRPr sz="900"/>
            </a:pPr>
            <a:r>
              <a:t>20</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2920" y="228600"/>
            <a:ext cx="11155680" cy="594360"/>
          </a:xfrm>
          <a:prstGeom prst="rect">
            <a:avLst/>
          </a:prstGeom>
          <a:noFill/>
        </p:spPr>
        <p:txBody>
          <a:bodyPr wrap="none">
            <a:spAutoFit/>
          </a:bodyPr>
          <a:lstStyle/>
          <a:p>
            <a:pPr>
              <a:defRPr sz="2800" b="1"/>
            </a:pPr>
            <a:r>
              <a:t>16. Metadata Filtering</a:t>
            </a:r>
          </a:p>
        </p:txBody>
      </p:sp>
      <p:sp>
        <p:nvSpPr>
          <p:cNvPr id="3" name="TextBox 2"/>
          <p:cNvSpPr txBox="1"/>
          <p:nvPr/>
        </p:nvSpPr>
        <p:spPr>
          <a:xfrm>
            <a:off x="594360" y="728091"/>
            <a:ext cx="10972800" cy="5796153"/>
          </a:xfrm>
          <a:prstGeom prst="rect">
            <a:avLst/>
          </a:prstGeom>
          <a:noFill/>
        </p:spPr>
        <p:txBody>
          <a:bodyPr wrap="square">
            <a:normAutofit/>
          </a:bodyPr>
          <a:lstStyle/>
          <a:p>
            <a:pPr>
              <a:spcAft>
                <a:spcPts val="600"/>
              </a:spcAft>
              <a:defRPr sz="1700"/>
            </a:pPr>
            <a:r>
              <a:rPr dirty="0"/>
              <a:t>Not every search should search every document.</a:t>
            </a:r>
          </a:p>
          <a:p>
            <a:pPr>
              <a:spcAft>
                <a:spcPts val="600"/>
              </a:spcAft>
              <a:defRPr sz="1700"/>
            </a:pPr>
            <a:r>
              <a:rPr dirty="0"/>
              <a:t>Suppose our database contains:</a:t>
            </a:r>
          </a:p>
          <a:p>
            <a:pPr>
              <a:spcAft>
                <a:spcPts val="600"/>
              </a:spcAft>
              <a:defRPr sz="1700"/>
            </a:pPr>
            <a:r>
              <a:rPr dirty="0"/>
              <a:t>HR documents</a:t>
            </a:r>
            <a:r>
              <a:rPr lang="en-IN" dirty="0"/>
              <a:t>  </a:t>
            </a:r>
            <a:r>
              <a:rPr dirty="0"/>
              <a:t>Finance documents</a:t>
            </a:r>
            <a:r>
              <a:rPr lang="en-IN" dirty="0"/>
              <a:t>  </a:t>
            </a:r>
            <a:r>
              <a:rPr dirty="0"/>
              <a:t>Technical documents</a:t>
            </a:r>
            <a:r>
              <a:rPr lang="en-IN" dirty="0"/>
              <a:t>   </a:t>
            </a:r>
            <a:r>
              <a:rPr dirty="0"/>
              <a:t>Marketing documents</a:t>
            </a:r>
          </a:p>
          <a:p>
            <a:pPr>
              <a:spcAft>
                <a:spcPts val="600"/>
              </a:spcAft>
              <a:defRPr sz="1700"/>
            </a:pPr>
            <a:r>
              <a:rPr dirty="0"/>
              <a:t>Each chunk can have metadata:</a:t>
            </a:r>
          </a:p>
          <a:p>
            <a:pPr>
              <a:spcAft>
                <a:spcPts val="600"/>
              </a:spcAft>
              <a:defRPr sz="1700"/>
            </a:pPr>
            <a:r>
              <a:rPr dirty="0"/>
              <a:t>{</a:t>
            </a:r>
          </a:p>
          <a:p>
            <a:pPr>
              <a:spcAft>
                <a:spcPts val="600"/>
              </a:spcAft>
              <a:defRPr sz="1700"/>
            </a:pPr>
            <a:r>
              <a:rPr dirty="0"/>
              <a:t>    "department": "HR",</a:t>
            </a:r>
          </a:p>
          <a:p>
            <a:pPr>
              <a:spcAft>
                <a:spcPts val="600"/>
              </a:spcAft>
              <a:defRPr sz="1700"/>
            </a:pPr>
            <a:r>
              <a:rPr dirty="0"/>
              <a:t>    "year": 2026,</a:t>
            </a:r>
          </a:p>
          <a:p>
            <a:pPr>
              <a:spcAft>
                <a:spcPts val="600"/>
              </a:spcAft>
              <a:defRPr sz="1700"/>
            </a:pPr>
            <a:r>
              <a:rPr dirty="0"/>
              <a:t>    "document": "leave_policy.pdf"</a:t>
            </a:r>
          </a:p>
          <a:p>
            <a:pPr>
              <a:spcAft>
                <a:spcPts val="600"/>
              </a:spcAft>
              <a:defRPr sz="1700"/>
            </a:pPr>
            <a:r>
              <a:rPr dirty="0"/>
              <a:t>}</a:t>
            </a:r>
          </a:p>
          <a:p>
            <a:pPr>
              <a:spcAft>
                <a:spcPts val="600"/>
              </a:spcAft>
              <a:defRPr sz="1700"/>
            </a:pPr>
            <a:r>
              <a:rPr dirty="0"/>
              <a:t>User asks:</a:t>
            </a:r>
          </a:p>
          <a:p>
            <a:pPr>
              <a:spcAft>
                <a:spcPts val="600"/>
              </a:spcAft>
              <a:defRPr sz="1700"/>
            </a:pPr>
            <a:r>
              <a:rPr dirty="0"/>
              <a:t>"What is the leave policy?"</a:t>
            </a:r>
            <a:endParaRPr lang="en-IN" dirty="0"/>
          </a:p>
          <a:p>
            <a:pPr>
              <a:spcAft>
                <a:spcPts val="600"/>
              </a:spcAft>
              <a:defRPr sz="1700"/>
            </a:pPr>
            <a:r>
              <a:rPr dirty="0"/>
              <a:t>We can filter:</a:t>
            </a:r>
          </a:p>
          <a:p>
            <a:pPr>
              <a:spcAft>
                <a:spcPts val="600"/>
              </a:spcAft>
              <a:defRPr sz="1700"/>
            </a:pPr>
            <a:r>
              <a:rPr dirty="0"/>
              <a:t>department = HR</a:t>
            </a:r>
          </a:p>
          <a:p>
            <a:pPr>
              <a:spcAft>
                <a:spcPts val="600"/>
              </a:spcAft>
              <a:defRPr sz="1700"/>
            </a:pPr>
            <a:r>
              <a:rPr dirty="0"/>
              <a:t>before or during retrieval.</a:t>
            </a:r>
          </a:p>
          <a:p>
            <a:pPr>
              <a:spcAft>
                <a:spcPts val="600"/>
              </a:spcAft>
              <a:defRPr sz="1700"/>
            </a:pPr>
            <a:r>
              <a:rPr dirty="0"/>
              <a:t>So the system searches only relevant documents.</a:t>
            </a:r>
          </a:p>
          <a:p>
            <a:pPr>
              <a:spcAft>
                <a:spcPts val="600"/>
              </a:spcAft>
              <a:defRPr sz="1700"/>
            </a:pPr>
            <a:r>
              <a:rPr dirty="0"/>
              <a:t>Other metadata examples:</a:t>
            </a:r>
          </a:p>
          <a:p>
            <a:pPr>
              <a:spcAft>
                <a:spcPts val="600"/>
              </a:spcAft>
              <a:defRPr sz="1700"/>
            </a:pPr>
            <a:r>
              <a:rPr lang="en-IN" dirty="0"/>
              <a:t>D</a:t>
            </a:r>
            <a:r>
              <a:rPr dirty="0" err="1"/>
              <a:t>epartme</a:t>
            </a:r>
            <a:r>
              <a:rPr lang="en-IN" dirty="0" err="1"/>
              <a:t>nt</a:t>
            </a:r>
            <a:r>
              <a:rPr lang="en-IN" dirty="0"/>
              <a:t>    </a:t>
            </a:r>
            <a:r>
              <a:rPr dirty="0" err="1"/>
              <a:t>document_type</a:t>
            </a:r>
            <a:r>
              <a:rPr lang="en-IN" dirty="0"/>
              <a:t>      </a:t>
            </a:r>
            <a:r>
              <a:rPr dirty="0"/>
              <a:t>author</a:t>
            </a:r>
          </a:p>
          <a:p>
            <a:pPr>
              <a:spcAft>
                <a:spcPts val="600"/>
              </a:spcAft>
              <a:defRPr sz="1700"/>
            </a:pPr>
            <a:endParaRPr dirty="0"/>
          </a:p>
        </p:txBody>
      </p:sp>
      <p:sp>
        <p:nvSpPr>
          <p:cNvPr id="4" name="Rectangle 3"/>
          <p:cNvSpPr/>
          <p:nvPr/>
        </p:nvSpPr>
        <p:spPr>
          <a:xfrm>
            <a:off x="502920" y="6565392"/>
            <a:ext cx="11155680" cy="13716"/>
          </a:xfrm>
          <a:prstGeom prst="rect">
            <a:avLst/>
          </a:prstGeom>
          <a:solidFill>
            <a:srgbClr val="D2D6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0607040" y="6601968"/>
            <a:ext cx="1005840" cy="182880"/>
          </a:xfrm>
          <a:prstGeom prst="rect">
            <a:avLst/>
          </a:prstGeom>
          <a:noFill/>
        </p:spPr>
        <p:txBody>
          <a:bodyPr wrap="none">
            <a:spAutoFit/>
          </a:bodyPr>
          <a:lstStyle/>
          <a:p>
            <a:pPr algn="r">
              <a:defRPr sz="900"/>
            </a:pPr>
            <a:r>
              <a:t>26</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2920" y="228600"/>
            <a:ext cx="11155680" cy="594360"/>
          </a:xfrm>
          <a:prstGeom prst="rect">
            <a:avLst/>
          </a:prstGeom>
          <a:noFill/>
        </p:spPr>
        <p:txBody>
          <a:bodyPr wrap="none">
            <a:spAutoFit/>
          </a:bodyPr>
          <a:lstStyle/>
          <a:p>
            <a:pPr>
              <a:defRPr sz="2800" b="1"/>
            </a:pPr>
            <a:r>
              <a:t>18. Vector Databases</a:t>
            </a:r>
          </a:p>
        </p:txBody>
      </p:sp>
      <p:sp>
        <p:nvSpPr>
          <p:cNvPr id="3" name="TextBox 2"/>
          <p:cNvSpPr txBox="1"/>
          <p:nvPr/>
        </p:nvSpPr>
        <p:spPr>
          <a:xfrm>
            <a:off x="594360" y="1051560"/>
            <a:ext cx="10972800" cy="5303520"/>
          </a:xfrm>
          <a:prstGeom prst="rect">
            <a:avLst/>
          </a:prstGeom>
          <a:noFill/>
        </p:spPr>
        <p:txBody>
          <a:bodyPr wrap="square">
            <a:normAutofit/>
          </a:bodyPr>
          <a:lstStyle/>
          <a:p>
            <a:pPr>
              <a:spcAft>
                <a:spcPts val="600"/>
              </a:spcAft>
              <a:defRPr sz="1700"/>
            </a:pPr>
            <a:r>
              <a:t>A vector database stores vectors and allows us to search for similar vectors efficiently.</a:t>
            </a:r>
          </a:p>
          <a:p>
            <a:pPr>
              <a:spcAft>
                <a:spcPts val="600"/>
              </a:spcAft>
              <a:defRPr sz="1700"/>
            </a:pPr>
            <a:endParaRPr/>
          </a:p>
          <a:p>
            <a:pPr>
              <a:spcAft>
                <a:spcPts val="600"/>
              </a:spcAft>
              <a:defRPr sz="1700"/>
            </a:pPr>
            <a:r>
              <a:t>Examples:</a:t>
            </a:r>
          </a:p>
          <a:p>
            <a:pPr>
              <a:spcAft>
                <a:spcPts val="600"/>
              </a:spcAft>
              <a:defRPr sz="1700"/>
            </a:pPr>
            <a:r>
              <a:t>- FAISS</a:t>
            </a:r>
          </a:p>
          <a:p>
            <a:pPr>
              <a:spcAft>
                <a:spcPts val="600"/>
              </a:spcAft>
              <a:defRPr sz="1700"/>
            </a:pPr>
            <a:r>
              <a:t>- ChromaDB</a:t>
            </a:r>
          </a:p>
          <a:p>
            <a:pPr>
              <a:spcAft>
                <a:spcPts val="600"/>
              </a:spcAft>
              <a:defRPr sz="1700"/>
            </a:pPr>
            <a:r>
              <a:t>- Pinecone</a:t>
            </a:r>
          </a:p>
          <a:p>
            <a:pPr>
              <a:spcAft>
                <a:spcPts val="600"/>
              </a:spcAft>
              <a:defRPr sz="1700"/>
            </a:pPr>
            <a:r>
              <a:t>- Weaviate</a:t>
            </a:r>
          </a:p>
          <a:p>
            <a:pPr>
              <a:spcAft>
                <a:spcPts val="600"/>
              </a:spcAft>
              <a:defRPr sz="1700"/>
            </a:pPr>
            <a:r>
              <a:t>- Milvus</a:t>
            </a:r>
          </a:p>
          <a:p>
            <a:pPr>
              <a:spcAft>
                <a:spcPts val="600"/>
              </a:spcAft>
              <a:defRPr sz="1700"/>
            </a:pPr>
            <a:r>
              <a:t>- Qdrant</a:t>
            </a:r>
          </a:p>
          <a:p>
            <a:pPr>
              <a:spcAft>
                <a:spcPts val="600"/>
              </a:spcAft>
              <a:defRPr sz="1700"/>
            </a:pPr>
            <a:endParaRPr/>
          </a:p>
          <a:p>
            <a:pPr>
              <a:spcAft>
                <a:spcPts val="600"/>
              </a:spcAft>
              <a:defRPr sz="1700"/>
            </a:pPr>
            <a:r>
              <a:t>For your syllabus, focus on FAISS and ChromaDB.</a:t>
            </a:r>
          </a:p>
        </p:txBody>
      </p:sp>
      <p:sp>
        <p:nvSpPr>
          <p:cNvPr id="4" name="Rectangle 3"/>
          <p:cNvSpPr/>
          <p:nvPr/>
        </p:nvSpPr>
        <p:spPr>
          <a:xfrm>
            <a:off x="502920" y="6565392"/>
            <a:ext cx="11155680" cy="13716"/>
          </a:xfrm>
          <a:prstGeom prst="rect">
            <a:avLst/>
          </a:prstGeom>
          <a:solidFill>
            <a:srgbClr val="D2D6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0607040" y="6601968"/>
            <a:ext cx="1005840" cy="182880"/>
          </a:xfrm>
          <a:prstGeom prst="rect">
            <a:avLst/>
          </a:prstGeom>
          <a:noFill/>
        </p:spPr>
        <p:txBody>
          <a:bodyPr wrap="none">
            <a:spAutoFit/>
          </a:bodyPr>
          <a:lstStyle/>
          <a:p>
            <a:pPr algn="r">
              <a:defRPr sz="900"/>
            </a:pPr>
            <a:r>
              <a:t>28</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2920" y="228600"/>
            <a:ext cx="11155680" cy="594360"/>
          </a:xfrm>
          <a:prstGeom prst="rect">
            <a:avLst/>
          </a:prstGeom>
          <a:noFill/>
        </p:spPr>
        <p:txBody>
          <a:bodyPr wrap="none">
            <a:spAutoFit/>
          </a:bodyPr>
          <a:lstStyle/>
          <a:p>
            <a:pPr>
              <a:defRPr sz="2800" b="1"/>
            </a:pPr>
            <a:r>
              <a:t>19. FAISS</a:t>
            </a:r>
          </a:p>
        </p:txBody>
      </p:sp>
      <p:sp>
        <p:nvSpPr>
          <p:cNvPr id="3" name="TextBox 2"/>
          <p:cNvSpPr txBox="1"/>
          <p:nvPr/>
        </p:nvSpPr>
        <p:spPr>
          <a:xfrm>
            <a:off x="594360" y="1051560"/>
            <a:ext cx="10972800" cy="5303520"/>
          </a:xfrm>
          <a:prstGeom prst="rect">
            <a:avLst/>
          </a:prstGeom>
          <a:noFill/>
        </p:spPr>
        <p:txBody>
          <a:bodyPr wrap="square">
            <a:normAutofit/>
          </a:bodyPr>
          <a:lstStyle/>
          <a:p>
            <a:pPr>
              <a:spcAft>
                <a:spcPts val="600"/>
              </a:spcAft>
              <a:defRPr sz="1700"/>
            </a:pPr>
            <a:r>
              <a:t>FAISS stands for:</a:t>
            </a:r>
          </a:p>
          <a:p>
            <a:pPr>
              <a:spcAft>
                <a:spcPts val="600"/>
              </a:spcAft>
              <a:defRPr sz="1700"/>
            </a:pPr>
            <a:r>
              <a:t>Facebook AI Similarity Search</a:t>
            </a:r>
          </a:p>
          <a:p>
            <a:pPr>
              <a:spcAft>
                <a:spcPts val="600"/>
              </a:spcAft>
              <a:defRPr sz="1700"/>
            </a:pPr>
            <a:endParaRPr/>
          </a:p>
          <a:p>
            <a:pPr>
              <a:spcAft>
                <a:spcPts val="600"/>
              </a:spcAft>
              <a:defRPr sz="1700"/>
            </a:pPr>
            <a:r>
              <a:t>It is a library for efficient similarity search over vectors.</a:t>
            </a:r>
          </a:p>
          <a:p>
            <a:pPr>
              <a:spcAft>
                <a:spcPts val="600"/>
              </a:spcAft>
              <a:defRPr sz="1700"/>
            </a:pPr>
            <a:endParaRPr/>
          </a:p>
          <a:p>
            <a:pPr>
              <a:spcAft>
                <a:spcPts val="600"/>
              </a:spcAft>
              <a:defRPr sz="1700"/>
            </a:pPr>
            <a:r>
              <a:t>FAISS</a:t>
            </a:r>
          </a:p>
          <a:p>
            <a:pPr>
              <a:spcAft>
                <a:spcPts val="600"/>
              </a:spcAft>
              <a:defRPr sz="1700"/>
            </a:pPr>
            <a:endParaRPr/>
          </a:p>
          <a:p>
            <a:pPr>
              <a:spcAft>
                <a:spcPts val="600"/>
              </a:spcAft>
              <a:defRPr sz="1700"/>
            </a:pPr>
            <a:r>
              <a:t>Think of FAISS as:</a:t>
            </a:r>
          </a:p>
          <a:p>
            <a:pPr>
              <a:spcAft>
                <a:spcPts val="600"/>
              </a:spcAft>
              <a:defRPr sz="1700"/>
            </a:pPr>
            <a:r>
              <a:t>A high-speed engine for finding similar vectors.</a:t>
            </a:r>
          </a:p>
        </p:txBody>
      </p:sp>
      <p:sp>
        <p:nvSpPr>
          <p:cNvPr id="4" name="Rectangle 3"/>
          <p:cNvSpPr/>
          <p:nvPr/>
        </p:nvSpPr>
        <p:spPr>
          <a:xfrm>
            <a:off x="502920" y="6565392"/>
            <a:ext cx="11155680" cy="13716"/>
          </a:xfrm>
          <a:prstGeom prst="rect">
            <a:avLst/>
          </a:prstGeom>
          <a:solidFill>
            <a:srgbClr val="D2D6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0607040" y="6601968"/>
            <a:ext cx="1005840" cy="182880"/>
          </a:xfrm>
          <a:prstGeom prst="rect">
            <a:avLst/>
          </a:prstGeom>
          <a:noFill/>
        </p:spPr>
        <p:txBody>
          <a:bodyPr wrap="none">
            <a:spAutoFit/>
          </a:bodyPr>
          <a:lstStyle/>
          <a:p>
            <a:pPr algn="r">
              <a:defRPr sz="900"/>
            </a:pPr>
            <a:r>
              <a:t>29</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2920" y="228600"/>
            <a:ext cx="11155680" cy="594360"/>
          </a:xfrm>
          <a:prstGeom prst="rect">
            <a:avLst/>
          </a:prstGeom>
          <a:noFill/>
        </p:spPr>
        <p:txBody>
          <a:bodyPr wrap="none">
            <a:spAutoFit/>
          </a:bodyPr>
          <a:lstStyle/>
          <a:p>
            <a:pPr>
              <a:defRPr sz="2800" b="1"/>
            </a:pPr>
            <a:r>
              <a:t>27. What is RAG?</a:t>
            </a:r>
          </a:p>
        </p:txBody>
      </p:sp>
      <p:sp>
        <p:nvSpPr>
          <p:cNvPr id="3" name="TextBox 2"/>
          <p:cNvSpPr txBox="1"/>
          <p:nvPr/>
        </p:nvSpPr>
        <p:spPr>
          <a:xfrm>
            <a:off x="594360" y="1051560"/>
            <a:ext cx="10972800" cy="5303520"/>
          </a:xfrm>
          <a:prstGeom prst="rect">
            <a:avLst/>
          </a:prstGeom>
          <a:noFill/>
        </p:spPr>
        <p:txBody>
          <a:bodyPr wrap="square">
            <a:normAutofit/>
          </a:bodyPr>
          <a:lstStyle/>
          <a:p>
            <a:pPr>
              <a:spcAft>
                <a:spcPts val="600"/>
              </a:spcAft>
              <a:defRPr sz="1700"/>
            </a:pPr>
            <a:r>
              <a:t>RAG = Retrieval-Augmented Generation</a:t>
            </a:r>
          </a:p>
          <a:p>
            <a:pPr>
              <a:spcAft>
                <a:spcPts val="600"/>
              </a:spcAft>
              <a:defRPr sz="1700"/>
            </a:pPr>
            <a:endParaRPr/>
          </a:p>
          <a:p>
            <a:pPr>
              <a:spcAft>
                <a:spcPts val="600"/>
              </a:spcAft>
              <a:defRPr sz="1700"/>
            </a:pPr>
            <a:r>
              <a:t>Break the term into three parts:</a:t>
            </a:r>
          </a:p>
          <a:p>
            <a:pPr>
              <a:spcAft>
                <a:spcPts val="600"/>
              </a:spcAft>
              <a:defRPr sz="1700"/>
            </a:pPr>
            <a:endParaRPr/>
          </a:p>
          <a:p>
            <a:pPr>
              <a:spcAft>
                <a:spcPts val="600"/>
              </a:spcAft>
              <a:defRPr sz="1700"/>
            </a:pPr>
            <a:r>
              <a:t>Retrieval</a:t>
            </a:r>
          </a:p>
          <a:p>
            <a:pPr>
              <a:spcAft>
                <a:spcPts val="600"/>
              </a:spcAft>
              <a:defRPr sz="1700"/>
            </a:pPr>
            <a:r>
              <a:t>Find relevant information.</a:t>
            </a:r>
          </a:p>
          <a:p>
            <a:pPr>
              <a:spcAft>
                <a:spcPts val="600"/>
              </a:spcAft>
              <a:defRPr sz="1700"/>
            </a:pPr>
            <a:endParaRPr/>
          </a:p>
          <a:p>
            <a:pPr>
              <a:spcAft>
                <a:spcPts val="600"/>
              </a:spcAft>
              <a:defRPr sz="1700"/>
            </a:pPr>
            <a:r>
              <a:t>Augmented</a:t>
            </a:r>
          </a:p>
          <a:p>
            <a:pPr>
              <a:spcAft>
                <a:spcPts val="600"/>
              </a:spcAft>
              <a:defRPr sz="1700"/>
            </a:pPr>
            <a:r>
              <a:t>Add that information to the user's question.</a:t>
            </a:r>
          </a:p>
          <a:p>
            <a:pPr>
              <a:spcAft>
                <a:spcPts val="600"/>
              </a:spcAft>
              <a:defRPr sz="1700"/>
            </a:pPr>
            <a:endParaRPr/>
          </a:p>
          <a:p>
            <a:pPr>
              <a:spcAft>
                <a:spcPts val="600"/>
              </a:spcAft>
              <a:defRPr sz="1700"/>
            </a:pPr>
            <a:r>
              <a:t>Generation</a:t>
            </a:r>
          </a:p>
          <a:p>
            <a:pPr>
              <a:spcAft>
                <a:spcPts val="600"/>
              </a:spcAft>
              <a:defRPr sz="1700"/>
            </a:pPr>
            <a:r>
              <a:t>Ask the LLM to generate an answer using that information.</a:t>
            </a:r>
          </a:p>
          <a:p>
            <a:pPr>
              <a:spcAft>
                <a:spcPts val="600"/>
              </a:spcAft>
              <a:defRPr sz="1700"/>
            </a:pPr>
            <a:endParaRPr/>
          </a:p>
          <a:p>
            <a:pPr>
              <a:spcAft>
                <a:spcPts val="600"/>
              </a:spcAft>
              <a:defRPr sz="1700"/>
            </a:pPr>
            <a:r>
              <a:t>Therefore:</a:t>
            </a:r>
          </a:p>
          <a:p>
            <a:pPr>
              <a:spcAft>
                <a:spcPts val="600"/>
              </a:spcAft>
              <a:defRPr sz="1700"/>
            </a:pPr>
            <a:r>
              <a:t>RAG</a:t>
            </a:r>
          </a:p>
          <a:p>
            <a:pPr>
              <a:spcAft>
                <a:spcPts val="600"/>
              </a:spcAft>
              <a:defRPr sz="1700"/>
            </a:pPr>
            <a:r>
              <a:t>Retrieval</a:t>
            </a:r>
          </a:p>
          <a:p>
            <a:pPr>
              <a:spcAft>
                <a:spcPts val="600"/>
              </a:spcAft>
              <a:defRPr sz="1700"/>
            </a:pPr>
            <a:r>
              <a:t>   +</a:t>
            </a:r>
          </a:p>
          <a:p>
            <a:pPr>
              <a:spcAft>
                <a:spcPts val="600"/>
              </a:spcAft>
              <a:defRPr sz="1700"/>
            </a:pPr>
            <a:r>
              <a:t>Augmentation</a:t>
            </a:r>
          </a:p>
          <a:p>
            <a:pPr>
              <a:spcAft>
                <a:spcPts val="600"/>
              </a:spcAft>
              <a:defRPr sz="1700"/>
            </a:pPr>
            <a:r>
              <a:t>   +</a:t>
            </a:r>
          </a:p>
          <a:p>
            <a:pPr>
              <a:spcAft>
                <a:spcPts val="600"/>
              </a:spcAft>
              <a:defRPr sz="1700"/>
            </a:pPr>
            <a:r>
              <a:t>Generation</a:t>
            </a:r>
          </a:p>
          <a:p>
            <a:pPr>
              <a:spcAft>
                <a:spcPts val="600"/>
              </a:spcAft>
              <a:defRPr sz="1700"/>
            </a:pPr>
            <a:endParaRPr/>
          </a:p>
          <a:p>
            <a:pPr>
              <a:spcAft>
                <a:spcPts val="600"/>
              </a:spcAft>
              <a:defRPr sz="1700"/>
            </a:pPr>
            <a:r>
              <a:t>Simple definition for students:</a:t>
            </a:r>
          </a:p>
          <a:p>
            <a:pPr>
              <a:spcAft>
                <a:spcPts val="600"/>
              </a:spcAft>
              <a:defRPr sz="1700"/>
            </a:pPr>
            <a:r>
              <a:t>RAG is a technique where an LLM retrieves relevant external information and uses it as context to generate a better, more grounded answer.</a:t>
            </a:r>
          </a:p>
        </p:txBody>
      </p:sp>
      <p:sp>
        <p:nvSpPr>
          <p:cNvPr id="4" name="Rectangle 3"/>
          <p:cNvSpPr/>
          <p:nvPr/>
        </p:nvSpPr>
        <p:spPr>
          <a:xfrm>
            <a:off x="502920" y="6565392"/>
            <a:ext cx="11155680" cy="13716"/>
          </a:xfrm>
          <a:prstGeom prst="rect">
            <a:avLst/>
          </a:prstGeom>
          <a:solidFill>
            <a:srgbClr val="D2D6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0607040" y="6601968"/>
            <a:ext cx="1005840" cy="182880"/>
          </a:xfrm>
          <a:prstGeom prst="rect">
            <a:avLst/>
          </a:prstGeom>
          <a:noFill/>
        </p:spPr>
        <p:txBody>
          <a:bodyPr wrap="none">
            <a:spAutoFit/>
          </a:bodyPr>
          <a:lstStyle/>
          <a:p>
            <a:pPr algn="r">
              <a:defRPr sz="900"/>
            </a:pPr>
            <a:r>
              <a:t>39</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2920" y="228600"/>
            <a:ext cx="11155680" cy="594360"/>
          </a:xfrm>
          <a:prstGeom prst="rect">
            <a:avLst/>
          </a:prstGeom>
          <a:noFill/>
        </p:spPr>
        <p:txBody>
          <a:bodyPr wrap="none">
            <a:spAutoFit/>
          </a:bodyPr>
          <a:lstStyle/>
          <a:p>
            <a:pPr>
              <a:defRPr sz="2800" b="1"/>
            </a:pPr>
            <a:r>
              <a:t>28. Why Is RAG Important?</a:t>
            </a:r>
          </a:p>
        </p:txBody>
      </p:sp>
      <p:sp>
        <p:nvSpPr>
          <p:cNvPr id="3" name="TextBox 2"/>
          <p:cNvSpPr txBox="1"/>
          <p:nvPr/>
        </p:nvSpPr>
        <p:spPr>
          <a:xfrm>
            <a:off x="594360" y="1051560"/>
            <a:ext cx="10972800" cy="5303520"/>
          </a:xfrm>
          <a:prstGeom prst="rect">
            <a:avLst/>
          </a:prstGeom>
          <a:noFill/>
        </p:spPr>
        <p:txBody>
          <a:bodyPr wrap="square">
            <a:normAutofit/>
          </a:bodyPr>
          <a:lstStyle/>
          <a:p>
            <a:pPr>
              <a:spcAft>
                <a:spcPts val="600"/>
              </a:spcAft>
              <a:defRPr sz="1700"/>
            </a:pPr>
            <a:r>
              <a:t>An LLM has limitations.</a:t>
            </a:r>
          </a:p>
          <a:p>
            <a:pPr>
              <a:spcAft>
                <a:spcPts val="600"/>
              </a:spcAft>
              <a:defRPr sz="1700"/>
            </a:pPr>
            <a:endParaRPr/>
          </a:p>
          <a:p>
            <a:pPr>
              <a:spcAft>
                <a:spcPts val="600"/>
              </a:spcAft>
              <a:defRPr sz="1700"/>
            </a:pPr>
            <a:r>
              <a:t>For example:</a:t>
            </a:r>
          </a:p>
          <a:p>
            <a:pPr>
              <a:spcAft>
                <a:spcPts val="600"/>
              </a:spcAft>
              <a:defRPr sz="1700"/>
            </a:pPr>
            <a:endParaRPr/>
          </a:p>
          <a:p>
            <a:pPr>
              <a:spcAft>
                <a:spcPts val="600"/>
              </a:spcAft>
              <a:defRPr sz="1700"/>
            </a:pPr>
            <a:r>
              <a:t>1. Knowledge cutoff</a:t>
            </a:r>
          </a:p>
          <a:p>
            <a:pPr>
              <a:spcAft>
                <a:spcPts val="600"/>
              </a:spcAft>
              <a:defRPr sz="1700"/>
            </a:pPr>
            <a:r>
              <a:t>The model may not know recent information.</a:t>
            </a:r>
          </a:p>
          <a:p>
            <a:pPr>
              <a:spcAft>
                <a:spcPts val="600"/>
              </a:spcAft>
              <a:defRPr sz="1700"/>
            </a:pPr>
            <a:endParaRPr/>
          </a:p>
          <a:p>
            <a:pPr>
              <a:spcAft>
                <a:spcPts val="600"/>
              </a:spcAft>
              <a:defRPr sz="1700"/>
            </a:pPr>
            <a:r>
              <a:t>2. Private data</a:t>
            </a:r>
          </a:p>
          <a:p>
            <a:pPr>
              <a:spcAft>
                <a:spcPts val="600"/>
              </a:spcAft>
              <a:defRPr sz="1700"/>
            </a:pPr>
            <a:r>
              <a:t>The model may not know your company's internal documents.</a:t>
            </a:r>
          </a:p>
          <a:p>
            <a:pPr>
              <a:spcAft>
                <a:spcPts val="600"/>
              </a:spcAft>
              <a:defRPr sz="1700"/>
            </a:pPr>
            <a:endParaRPr/>
          </a:p>
          <a:p>
            <a:pPr>
              <a:spcAft>
                <a:spcPts val="600"/>
              </a:spcAft>
              <a:defRPr sz="1700"/>
            </a:pPr>
            <a:r>
              <a:t>3. Hallucination</a:t>
            </a:r>
          </a:p>
          <a:p>
            <a:pPr>
              <a:spcAft>
                <a:spcPts val="600"/>
              </a:spcAft>
              <a:defRPr sz="1700"/>
            </a:pPr>
            <a:r>
              <a:t>The model can generate information that isn't supported by your source.</a:t>
            </a:r>
          </a:p>
          <a:p>
            <a:pPr>
              <a:spcAft>
                <a:spcPts val="600"/>
              </a:spcAft>
              <a:defRPr sz="1700"/>
            </a:pPr>
            <a:endParaRPr/>
          </a:p>
          <a:p>
            <a:pPr>
              <a:spcAft>
                <a:spcPts val="600"/>
              </a:spcAft>
              <a:defRPr sz="1700"/>
            </a:pPr>
            <a:r>
              <a:t>4. Domain-specific information</a:t>
            </a:r>
          </a:p>
          <a:p>
            <a:pPr>
              <a:spcAft>
                <a:spcPts val="600"/>
              </a:spcAft>
              <a:defRPr sz="1700"/>
            </a:pPr>
            <a:r>
              <a:t>The model may not know your organization's:</a:t>
            </a:r>
          </a:p>
          <a:p>
            <a:pPr>
              <a:spcAft>
                <a:spcPts val="600"/>
              </a:spcAft>
              <a:defRPr sz="1700"/>
            </a:pPr>
            <a:r>
              <a:t>HR policies</a:t>
            </a:r>
          </a:p>
          <a:p>
            <a:pPr>
              <a:spcAft>
                <a:spcPts val="600"/>
              </a:spcAft>
              <a:defRPr sz="1700"/>
            </a:pPr>
            <a:r>
              <a:t>Product manuals</a:t>
            </a:r>
          </a:p>
          <a:p>
            <a:pPr>
              <a:spcAft>
                <a:spcPts val="600"/>
              </a:spcAft>
              <a:defRPr sz="1700"/>
            </a:pPr>
            <a:r>
              <a:t>Internal documentation</a:t>
            </a:r>
          </a:p>
          <a:p>
            <a:pPr>
              <a:spcAft>
                <a:spcPts val="600"/>
              </a:spcAft>
              <a:defRPr sz="1700"/>
            </a:pPr>
            <a:r>
              <a:t>Customer records</a:t>
            </a:r>
          </a:p>
          <a:p>
            <a:pPr>
              <a:spcAft>
                <a:spcPts val="600"/>
              </a:spcAft>
              <a:defRPr sz="1700"/>
            </a:pPr>
            <a:r>
              <a:t>Technical documentation</a:t>
            </a:r>
          </a:p>
          <a:p>
            <a:pPr>
              <a:spcAft>
                <a:spcPts val="600"/>
              </a:spcAft>
              <a:defRPr sz="1700"/>
            </a:pPr>
            <a:endParaRPr/>
          </a:p>
          <a:p>
            <a:pPr>
              <a:spcAft>
                <a:spcPts val="600"/>
              </a:spcAft>
              <a:defRPr sz="1700"/>
            </a:pPr>
            <a:r>
              <a:t>RAG allows us to provide relevant information at query time.</a:t>
            </a:r>
          </a:p>
        </p:txBody>
      </p:sp>
      <p:sp>
        <p:nvSpPr>
          <p:cNvPr id="4" name="Rectangle 3"/>
          <p:cNvSpPr/>
          <p:nvPr/>
        </p:nvSpPr>
        <p:spPr>
          <a:xfrm>
            <a:off x="502920" y="6565392"/>
            <a:ext cx="11155680" cy="13716"/>
          </a:xfrm>
          <a:prstGeom prst="rect">
            <a:avLst/>
          </a:prstGeom>
          <a:solidFill>
            <a:srgbClr val="D2D6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0607040" y="6601968"/>
            <a:ext cx="1005840" cy="182880"/>
          </a:xfrm>
          <a:prstGeom prst="rect">
            <a:avLst/>
          </a:prstGeom>
          <a:noFill/>
        </p:spPr>
        <p:txBody>
          <a:bodyPr wrap="none">
            <a:spAutoFit/>
          </a:bodyPr>
          <a:lstStyle/>
          <a:p>
            <a:pPr algn="r">
              <a:defRPr sz="900"/>
            </a:pPr>
            <a:r>
              <a:t>40</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2920" y="228600"/>
            <a:ext cx="11155680" cy="594360"/>
          </a:xfrm>
          <a:prstGeom prst="rect">
            <a:avLst/>
          </a:prstGeom>
          <a:noFill/>
        </p:spPr>
        <p:txBody>
          <a:bodyPr wrap="none">
            <a:spAutoFit/>
          </a:bodyPr>
          <a:lstStyle/>
          <a:p>
            <a:pPr>
              <a:defRPr sz="2800" b="1"/>
            </a:pPr>
            <a:r>
              <a:t>29. RAG Pipeline Overview</a:t>
            </a:r>
          </a:p>
        </p:txBody>
      </p:sp>
      <p:sp>
        <p:nvSpPr>
          <p:cNvPr id="3" name="TextBox 2"/>
          <p:cNvSpPr txBox="1"/>
          <p:nvPr/>
        </p:nvSpPr>
        <p:spPr>
          <a:xfrm>
            <a:off x="594360" y="1051560"/>
            <a:ext cx="10972800" cy="5303520"/>
          </a:xfrm>
          <a:prstGeom prst="rect">
            <a:avLst/>
          </a:prstGeom>
          <a:noFill/>
        </p:spPr>
        <p:txBody>
          <a:bodyPr wrap="square">
            <a:normAutofit fontScale="25000" lnSpcReduction="20000"/>
          </a:bodyPr>
          <a:lstStyle/>
          <a:p>
            <a:pPr>
              <a:spcAft>
                <a:spcPts val="600"/>
              </a:spcAft>
              <a:defRPr sz="1700"/>
            </a:pPr>
            <a:r>
              <a:rPr dirty="0"/>
              <a:t>The complete RAG architecture can be divided into two phases.</a:t>
            </a:r>
          </a:p>
          <a:p>
            <a:pPr>
              <a:spcAft>
                <a:spcPts val="600"/>
              </a:spcAft>
              <a:defRPr sz="1700"/>
            </a:pPr>
            <a:endParaRPr dirty="0"/>
          </a:p>
          <a:p>
            <a:pPr>
              <a:spcAft>
                <a:spcPts val="600"/>
              </a:spcAft>
              <a:defRPr sz="1700"/>
            </a:pPr>
            <a:r>
              <a:rPr dirty="0"/>
              <a:t>Phase 1: Indexing</a:t>
            </a:r>
          </a:p>
          <a:p>
            <a:pPr>
              <a:spcAft>
                <a:spcPts val="600"/>
              </a:spcAft>
              <a:defRPr sz="1700"/>
            </a:pPr>
            <a:r>
              <a:rPr dirty="0"/>
              <a:t>This happens before the user asks questions.</a:t>
            </a:r>
          </a:p>
          <a:p>
            <a:pPr>
              <a:spcAft>
                <a:spcPts val="600"/>
              </a:spcAft>
              <a:defRPr sz="1700"/>
            </a:pPr>
            <a:endParaRPr dirty="0"/>
          </a:p>
          <a:p>
            <a:pPr>
              <a:spcAft>
                <a:spcPts val="600"/>
              </a:spcAft>
              <a:defRPr sz="1700"/>
            </a:pPr>
            <a:r>
              <a:rPr dirty="0"/>
              <a:t>Documents</a:t>
            </a:r>
          </a:p>
          <a:p>
            <a:pPr>
              <a:spcAft>
                <a:spcPts val="600"/>
              </a:spcAft>
              <a:defRPr sz="1700"/>
            </a:pPr>
            <a:r>
              <a:rPr dirty="0"/>
              <a:t>    ↓</a:t>
            </a:r>
          </a:p>
          <a:p>
            <a:pPr>
              <a:spcAft>
                <a:spcPts val="600"/>
              </a:spcAft>
              <a:defRPr sz="1700"/>
            </a:pPr>
            <a:r>
              <a:rPr dirty="0"/>
              <a:t>Load Documents</a:t>
            </a:r>
          </a:p>
          <a:p>
            <a:pPr>
              <a:spcAft>
                <a:spcPts val="600"/>
              </a:spcAft>
              <a:defRPr sz="1700"/>
            </a:pPr>
            <a:r>
              <a:rPr dirty="0"/>
              <a:t>    ↓</a:t>
            </a:r>
          </a:p>
          <a:p>
            <a:pPr>
              <a:spcAft>
                <a:spcPts val="600"/>
              </a:spcAft>
              <a:defRPr sz="1700"/>
            </a:pPr>
            <a:r>
              <a:rPr dirty="0"/>
              <a:t>Chunk Documents</a:t>
            </a:r>
          </a:p>
          <a:p>
            <a:pPr>
              <a:spcAft>
                <a:spcPts val="600"/>
              </a:spcAft>
              <a:defRPr sz="1700"/>
            </a:pPr>
            <a:r>
              <a:rPr dirty="0"/>
              <a:t>    ↓</a:t>
            </a:r>
          </a:p>
          <a:p>
            <a:pPr>
              <a:spcAft>
                <a:spcPts val="600"/>
              </a:spcAft>
              <a:defRPr sz="1700"/>
            </a:pPr>
            <a:r>
              <a:rPr dirty="0"/>
              <a:t>Generate Embeddings</a:t>
            </a:r>
          </a:p>
          <a:p>
            <a:pPr>
              <a:spcAft>
                <a:spcPts val="600"/>
              </a:spcAft>
              <a:defRPr sz="1700"/>
            </a:pPr>
            <a:r>
              <a:rPr dirty="0"/>
              <a:t>    ↓</a:t>
            </a:r>
          </a:p>
          <a:p>
            <a:pPr>
              <a:spcAft>
                <a:spcPts val="600"/>
              </a:spcAft>
              <a:defRPr sz="1700"/>
            </a:pPr>
            <a:r>
              <a:rPr dirty="0"/>
              <a:t>Store Vectors</a:t>
            </a:r>
          </a:p>
          <a:p>
            <a:pPr>
              <a:spcAft>
                <a:spcPts val="600"/>
              </a:spcAft>
              <a:defRPr sz="1700"/>
            </a:pPr>
            <a:r>
              <a:rPr dirty="0"/>
              <a:t>    ↓</a:t>
            </a:r>
          </a:p>
          <a:p>
            <a:pPr>
              <a:spcAft>
                <a:spcPts val="600"/>
              </a:spcAft>
              <a:defRPr sz="1700"/>
            </a:pPr>
            <a:r>
              <a:rPr dirty="0"/>
              <a:t>Vector Database</a:t>
            </a:r>
          </a:p>
          <a:p>
            <a:pPr>
              <a:spcAft>
                <a:spcPts val="600"/>
              </a:spcAft>
              <a:defRPr sz="1700"/>
            </a:pPr>
            <a:r>
              <a:rPr dirty="0"/>
              <a:t>Phase 2: Query / Retrieval</a:t>
            </a:r>
          </a:p>
          <a:p>
            <a:pPr>
              <a:spcAft>
                <a:spcPts val="600"/>
              </a:spcAft>
              <a:defRPr sz="1700"/>
            </a:pPr>
            <a:r>
              <a:rPr dirty="0"/>
              <a:t>This happens when the user asks a question.</a:t>
            </a:r>
          </a:p>
          <a:p>
            <a:pPr>
              <a:spcAft>
                <a:spcPts val="600"/>
              </a:spcAft>
              <a:defRPr sz="1700"/>
            </a:pPr>
            <a:endParaRPr dirty="0"/>
          </a:p>
          <a:p>
            <a:pPr>
              <a:spcAft>
                <a:spcPts val="600"/>
              </a:spcAft>
              <a:defRPr sz="1700"/>
            </a:pPr>
            <a:r>
              <a:rPr dirty="0"/>
              <a:t>User Question</a:t>
            </a:r>
          </a:p>
          <a:p>
            <a:pPr>
              <a:spcAft>
                <a:spcPts val="600"/>
              </a:spcAft>
              <a:defRPr sz="1700"/>
            </a:pPr>
            <a:r>
              <a:rPr dirty="0"/>
              <a:t>      ↓</a:t>
            </a:r>
          </a:p>
          <a:p>
            <a:pPr>
              <a:spcAft>
                <a:spcPts val="600"/>
              </a:spcAft>
              <a:defRPr sz="1700"/>
            </a:pPr>
            <a:r>
              <a:rPr dirty="0"/>
              <a:t>Query Embedding</a:t>
            </a:r>
          </a:p>
          <a:p>
            <a:pPr>
              <a:spcAft>
                <a:spcPts val="600"/>
              </a:spcAft>
              <a:defRPr sz="1700"/>
            </a:pPr>
            <a:r>
              <a:rPr dirty="0"/>
              <a:t>      ↓</a:t>
            </a:r>
          </a:p>
          <a:p>
            <a:pPr>
              <a:spcAft>
                <a:spcPts val="600"/>
              </a:spcAft>
              <a:defRPr sz="1700"/>
            </a:pPr>
            <a:r>
              <a:rPr dirty="0"/>
              <a:t>Retriever</a:t>
            </a:r>
          </a:p>
          <a:p>
            <a:pPr>
              <a:spcAft>
                <a:spcPts val="600"/>
              </a:spcAft>
              <a:defRPr sz="1700"/>
            </a:pPr>
            <a:r>
              <a:rPr dirty="0"/>
              <a:t>      ↓</a:t>
            </a:r>
          </a:p>
          <a:p>
            <a:pPr>
              <a:spcAft>
                <a:spcPts val="600"/>
              </a:spcAft>
              <a:defRPr sz="1700"/>
            </a:pPr>
            <a:r>
              <a:rPr dirty="0"/>
              <a:t>Vector Database</a:t>
            </a:r>
          </a:p>
          <a:p>
            <a:pPr>
              <a:spcAft>
                <a:spcPts val="600"/>
              </a:spcAft>
              <a:defRPr sz="1700"/>
            </a:pPr>
            <a:r>
              <a:rPr dirty="0"/>
              <a:t>      ↓</a:t>
            </a:r>
          </a:p>
          <a:p>
            <a:pPr>
              <a:spcAft>
                <a:spcPts val="600"/>
              </a:spcAft>
              <a:defRPr sz="1700"/>
            </a:pPr>
            <a:r>
              <a:rPr dirty="0"/>
              <a:t>Relevant Chunks</a:t>
            </a:r>
          </a:p>
          <a:p>
            <a:pPr>
              <a:spcAft>
                <a:spcPts val="600"/>
              </a:spcAft>
              <a:defRPr sz="1700"/>
            </a:pPr>
            <a:r>
              <a:rPr dirty="0"/>
              <a:t>      ↓</a:t>
            </a:r>
          </a:p>
          <a:p>
            <a:pPr>
              <a:spcAft>
                <a:spcPts val="600"/>
              </a:spcAft>
              <a:defRPr sz="1700"/>
            </a:pPr>
            <a:r>
              <a:rPr dirty="0"/>
              <a:t>Context</a:t>
            </a:r>
          </a:p>
          <a:p>
            <a:pPr>
              <a:spcAft>
                <a:spcPts val="600"/>
              </a:spcAft>
              <a:defRPr sz="1700"/>
            </a:pPr>
            <a:r>
              <a:rPr dirty="0"/>
              <a:t>      ↓</a:t>
            </a:r>
          </a:p>
          <a:p>
            <a:pPr>
              <a:spcAft>
                <a:spcPts val="600"/>
              </a:spcAft>
              <a:defRPr sz="1700"/>
            </a:pPr>
            <a:r>
              <a:rPr dirty="0"/>
              <a:t>LLM</a:t>
            </a:r>
          </a:p>
          <a:p>
            <a:pPr>
              <a:spcAft>
                <a:spcPts val="600"/>
              </a:spcAft>
              <a:defRPr sz="1700"/>
            </a:pPr>
            <a:r>
              <a:rPr dirty="0"/>
              <a:t>      ↓</a:t>
            </a:r>
          </a:p>
          <a:p>
            <a:pPr>
              <a:spcAft>
                <a:spcPts val="600"/>
              </a:spcAft>
              <a:defRPr sz="1700"/>
            </a:pPr>
            <a:r>
              <a:rPr dirty="0"/>
              <a:t>Answer</a:t>
            </a:r>
          </a:p>
          <a:p>
            <a:pPr>
              <a:spcAft>
                <a:spcPts val="600"/>
              </a:spcAft>
              <a:defRPr sz="1700"/>
            </a:pPr>
            <a:endParaRPr dirty="0"/>
          </a:p>
          <a:p>
            <a:pPr>
              <a:spcAft>
                <a:spcPts val="600"/>
              </a:spcAft>
              <a:defRPr sz="1700"/>
            </a:pPr>
            <a:r>
              <a:rPr dirty="0"/>
              <a:t>This distinction is very important for students.</a:t>
            </a:r>
          </a:p>
        </p:txBody>
      </p:sp>
      <p:sp>
        <p:nvSpPr>
          <p:cNvPr id="4" name="Rectangle 3"/>
          <p:cNvSpPr/>
          <p:nvPr/>
        </p:nvSpPr>
        <p:spPr>
          <a:xfrm>
            <a:off x="502920" y="6565392"/>
            <a:ext cx="11155680" cy="13716"/>
          </a:xfrm>
          <a:prstGeom prst="rect">
            <a:avLst/>
          </a:prstGeom>
          <a:solidFill>
            <a:srgbClr val="D2D6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0607040" y="6601968"/>
            <a:ext cx="1005840" cy="182880"/>
          </a:xfrm>
          <a:prstGeom prst="rect">
            <a:avLst/>
          </a:prstGeom>
          <a:noFill/>
        </p:spPr>
        <p:txBody>
          <a:bodyPr wrap="none">
            <a:spAutoFit/>
          </a:bodyPr>
          <a:lstStyle/>
          <a:p>
            <a:pPr algn="r">
              <a:defRPr sz="900"/>
            </a:pPr>
            <a:r>
              <a:t>41</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2920" y="228600"/>
            <a:ext cx="11155680" cy="594360"/>
          </a:xfrm>
          <a:prstGeom prst="rect">
            <a:avLst/>
          </a:prstGeom>
          <a:noFill/>
        </p:spPr>
        <p:txBody>
          <a:bodyPr wrap="none">
            <a:spAutoFit/>
          </a:bodyPr>
          <a:lstStyle/>
          <a:p>
            <a:pPr>
              <a:defRPr sz="2800" b="1"/>
            </a:pPr>
            <a:r>
              <a:t>31. Retrieval Flow</a:t>
            </a:r>
          </a:p>
        </p:txBody>
      </p:sp>
      <p:sp>
        <p:nvSpPr>
          <p:cNvPr id="3" name="TextBox 2"/>
          <p:cNvSpPr txBox="1"/>
          <p:nvPr/>
        </p:nvSpPr>
        <p:spPr>
          <a:xfrm>
            <a:off x="594360" y="1051560"/>
            <a:ext cx="10972800" cy="5303520"/>
          </a:xfrm>
          <a:prstGeom prst="rect">
            <a:avLst/>
          </a:prstGeom>
          <a:noFill/>
        </p:spPr>
        <p:txBody>
          <a:bodyPr wrap="square">
            <a:normAutofit fontScale="25000" lnSpcReduction="20000"/>
          </a:bodyPr>
          <a:lstStyle/>
          <a:p>
            <a:pPr>
              <a:spcAft>
                <a:spcPts val="600"/>
              </a:spcAft>
              <a:defRPr sz="1700"/>
            </a:pPr>
            <a:r>
              <a:rPr dirty="0"/>
              <a:t>Let's take a real example.</a:t>
            </a:r>
          </a:p>
          <a:p>
            <a:pPr>
              <a:spcAft>
                <a:spcPts val="600"/>
              </a:spcAft>
              <a:defRPr sz="1700"/>
            </a:pPr>
            <a:endParaRPr dirty="0"/>
          </a:p>
          <a:p>
            <a:pPr>
              <a:spcAft>
                <a:spcPts val="600"/>
              </a:spcAft>
              <a:defRPr sz="1700"/>
            </a:pPr>
            <a:r>
              <a:rPr dirty="0"/>
              <a:t>Suppose your company has:</a:t>
            </a:r>
          </a:p>
          <a:p>
            <a:pPr>
              <a:spcAft>
                <a:spcPts val="600"/>
              </a:spcAft>
              <a:defRPr sz="1700"/>
            </a:pPr>
            <a:r>
              <a:rPr dirty="0"/>
              <a:t>employee_handbook.pdf</a:t>
            </a:r>
          </a:p>
          <a:p>
            <a:pPr>
              <a:spcAft>
                <a:spcPts val="600"/>
              </a:spcAft>
              <a:defRPr sz="1700"/>
            </a:pPr>
            <a:r>
              <a:rPr dirty="0"/>
              <a:t>leave_policy.pdf</a:t>
            </a:r>
          </a:p>
          <a:p>
            <a:pPr>
              <a:spcAft>
                <a:spcPts val="600"/>
              </a:spcAft>
              <a:defRPr sz="1700"/>
            </a:pPr>
            <a:r>
              <a:rPr dirty="0"/>
              <a:t>salary_policy.pdf</a:t>
            </a:r>
          </a:p>
          <a:p>
            <a:pPr>
              <a:spcAft>
                <a:spcPts val="600"/>
              </a:spcAft>
              <a:defRPr sz="1700"/>
            </a:pPr>
            <a:r>
              <a:rPr dirty="0"/>
              <a:t>insurance_policy.pdf</a:t>
            </a:r>
          </a:p>
          <a:p>
            <a:pPr>
              <a:spcAft>
                <a:spcPts val="600"/>
              </a:spcAft>
              <a:defRPr sz="1700"/>
            </a:pPr>
            <a:endParaRPr dirty="0"/>
          </a:p>
          <a:p>
            <a:pPr>
              <a:spcAft>
                <a:spcPts val="600"/>
              </a:spcAft>
              <a:defRPr sz="1700"/>
            </a:pPr>
            <a:r>
              <a:rPr dirty="0"/>
              <a:t>User asks:</a:t>
            </a:r>
          </a:p>
          <a:p>
            <a:pPr>
              <a:spcAft>
                <a:spcPts val="600"/>
              </a:spcAft>
              <a:defRPr sz="1700"/>
            </a:pPr>
            <a:r>
              <a:rPr dirty="0"/>
              <a:t>"How many annual leaves can I take?"</a:t>
            </a:r>
          </a:p>
          <a:p>
            <a:pPr>
              <a:spcAft>
                <a:spcPts val="600"/>
              </a:spcAft>
              <a:defRPr sz="1700"/>
            </a:pPr>
            <a:endParaRPr dirty="0"/>
          </a:p>
          <a:p>
            <a:pPr>
              <a:spcAft>
                <a:spcPts val="600"/>
              </a:spcAft>
              <a:defRPr sz="1700"/>
            </a:pPr>
            <a:r>
              <a:rPr dirty="0"/>
              <a:t>Step 1 — Convert question into embedding</a:t>
            </a:r>
          </a:p>
          <a:p>
            <a:pPr>
              <a:spcAft>
                <a:spcPts val="600"/>
              </a:spcAft>
              <a:defRPr sz="1700"/>
            </a:pPr>
            <a:r>
              <a:rPr dirty="0"/>
              <a:t>Question</a:t>
            </a:r>
          </a:p>
          <a:p>
            <a:pPr>
              <a:spcAft>
                <a:spcPts val="600"/>
              </a:spcAft>
              <a:defRPr sz="1700"/>
            </a:pPr>
            <a:r>
              <a:rPr dirty="0"/>
              <a:t>   ↓</a:t>
            </a:r>
          </a:p>
          <a:p>
            <a:pPr>
              <a:spcAft>
                <a:spcPts val="600"/>
              </a:spcAft>
              <a:defRPr sz="1700"/>
            </a:pPr>
            <a:r>
              <a:rPr dirty="0"/>
              <a:t>Embedding Model</a:t>
            </a:r>
          </a:p>
          <a:p>
            <a:pPr>
              <a:spcAft>
                <a:spcPts val="600"/>
              </a:spcAft>
              <a:defRPr sz="1700"/>
            </a:pPr>
            <a:r>
              <a:rPr dirty="0"/>
              <a:t>   ↓</a:t>
            </a:r>
          </a:p>
          <a:p>
            <a:pPr>
              <a:spcAft>
                <a:spcPts val="600"/>
              </a:spcAft>
              <a:defRPr sz="1700"/>
            </a:pPr>
            <a:r>
              <a:rPr dirty="0"/>
              <a:t>Query Vector</a:t>
            </a:r>
          </a:p>
          <a:p>
            <a:pPr>
              <a:spcAft>
                <a:spcPts val="600"/>
              </a:spcAft>
              <a:defRPr sz="1700"/>
            </a:pPr>
            <a:r>
              <a:rPr dirty="0"/>
              <a:t>Step 2 — Search vector database</a:t>
            </a:r>
          </a:p>
          <a:p>
            <a:pPr>
              <a:spcAft>
                <a:spcPts val="600"/>
              </a:spcAft>
              <a:defRPr sz="1700"/>
            </a:pPr>
            <a:r>
              <a:rPr dirty="0"/>
              <a:t>Query Vector</a:t>
            </a:r>
          </a:p>
          <a:p>
            <a:pPr>
              <a:spcAft>
                <a:spcPts val="600"/>
              </a:spcAft>
              <a:defRPr sz="1700"/>
            </a:pPr>
            <a:r>
              <a:rPr dirty="0"/>
              <a:t>      ↓</a:t>
            </a:r>
          </a:p>
          <a:p>
            <a:pPr>
              <a:spcAft>
                <a:spcPts val="600"/>
              </a:spcAft>
              <a:defRPr sz="1700"/>
            </a:pPr>
            <a:r>
              <a:rPr dirty="0"/>
              <a:t>Vector DB</a:t>
            </a:r>
          </a:p>
          <a:p>
            <a:pPr>
              <a:spcAft>
                <a:spcPts val="600"/>
              </a:spcAft>
              <a:defRPr sz="1700"/>
            </a:pPr>
            <a:r>
              <a:rPr dirty="0"/>
              <a:t>      ↓</a:t>
            </a:r>
          </a:p>
          <a:p>
            <a:pPr>
              <a:spcAft>
                <a:spcPts val="600"/>
              </a:spcAft>
              <a:defRPr sz="1700"/>
            </a:pPr>
            <a:r>
              <a:rPr dirty="0"/>
              <a:t>Similarity Search</a:t>
            </a:r>
          </a:p>
          <a:p>
            <a:pPr>
              <a:spcAft>
                <a:spcPts val="600"/>
              </a:spcAft>
              <a:defRPr sz="1700"/>
            </a:pPr>
            <a:endParaRPr dirty="0"/>
          </a:p>
          <a:p>
            <a:pPr>
              <a:spcAft>
                <a:spcPts val="600"/>
              </a:spcAft>
              <a:defRPr sz="1700"/>
            </a:pPr>
            <a:r>
              <a:rPr dirty="0"/>
              <a:t>Step 3 — Retrieve relevant chunks</a:t>
            </a:r>
          </a:p>
          <a:p>
            <a:pPr>
              <a:spcAft>
                <a:spcPts val="600"/>
              </a:spcAft>
              <a:defRPr sz="1700"/>
            </a:pPr>
            <a:r>
              <a:rPr dirty="0"/>
              <a:t>For example:</a:t>
            </a:r>
          </a:p>
          <a:p>
            <a:pPr>
              <a:spcAft>
                <a:spcPts val="600"/>
              </a:spcAft>
              <a:defRPr sz="1700"/>
            </a:pPr>
            <a:r>
              <a:rPr dirty="0"/>
              <a:t>leave_policy.pdf page 5</a:t>
            </a:r>
          </a:p>
          <a:p>
            <a:pPr>
              <a:spcAft>
                <a:spcPts val="600"/>
              </a:spcAft>
              <a:defRPr sz="1700"/>
            </a:pPr>
            <a:r>
              <a:rPr dirty="0"/>
              <a:t>leave_policy.pdf page 6</a:t>
            </a:r>
          </a:p>
          <a:p>
            <a:pPr>
              <a:spcAft>
                <a:spcPts val="600"/>
              </a:spcAft>
              <a:defRPr sz="1700"/>
            </a:pPr>
            <a:r>
              <a:rPr dirty="0"/>
              <a:t>employee_handbook.pdf page 20</a:t>
            </a:r>
          </a:p>
          <a:p>
            <a:pPr>
              <a:spcAft>
                <a:spcPts val="600"/>
              </a:spcAft>
              <a:defRPr sz="1700"/>
            </a:pPr>
            <a:endParaRPr dirty="0"/>
          </a:p>
          <a:p>
            <a:pPr>
              <a:spcAft>
                <a:spcPts val="600"/>
              </a:spcAft>
              <a:defRPr sz="1700"/>
            </a:pPr>
            <a:r>
              <a:rPr dirty="0"/>
              <a:t>Step 4 — Build context</a:t>
            </a:r>
          </a:p>
          <a:p>
            <a:pPr>
              <a:spcAft>
                <a:spcPts val="600"/>
              </a:spcAft>
              <a:defRPr sz="1700"/>
            </a:pPr>
            <a:r>
              <a:rPr dirty="0"/>
              <a:t>Context = relevant chunks</a:t>
            </a:r>
          </a:p>
          <a:p>
            <a:pPr>
              <a:spcAft>
                <a:spcPts val="600"/>
              </a:spcAft>
              <a:defRPr sz="1700"/>
            </a:pPr>
            <a:endParaRPr dirty="0"/>
          </a:p>
          <a:p>
            <a:pPr>
              <a:spcAft>
                <a:spcPts val="600"/>
              </a:spcAft>
              <a:defRPr sz="1700"/>
            </a:pPr>
            <a:r>
              <a:rPr dirty="0"/>
              <a:t>Step 5 — Send to LLM</a:t>
            </a:r>
          </a:p>
          <a:p>
            <a:pPr>
              <a:spcAft>
                <a:spcPts val="600"/>
              </a:spcAft>
              <a:defRPr sz="1700"/>
            </a:pPr>
            <a:r>
              <a:rPr dirty="0"/>
              <a:t>Question + Context</a:t>
            </a:r>
          </a:p>
          <a:p>
            <a:pPr>
              <a:spcAft>
                <a:spcPts val="600"/>
              </a:spcAft>
              <a:defRPr sz="1700"/>
            </a:pPr>
            <a:r>
              <a:rPr dirty="0"/>
              <a:t>        ↓</a:t>
            </a:r>
          </a:p>
          <a:p>
            <a:pPr>
              <a:spcAft>
                <a:spcPts val="600"/>
              </a:spcAft>
              <a:defRPr sz="1700"/>
            </a:pPr>
            <a:r>
              <a:rPr dirty="0"/>
              <a:t>       LLM</a:t>
            </a:r>
          </a:p>
          <a:p>
            <a:pPr>
              <a:spcAft>
                <a:spcPts val="600"/>
              </a:spcAft>
              <a:defRPr sz="1700"/>
            </a:pPr>
            <a:r>
              <a:rPr dirty="0"/>
              <a:t>        ↓</a:t>
            </a:r>
          </a:p>
          <a:p>
            <a:pPr>
              <a:spcAft>
                <a:spcPts val="600"/>
              </a:spcAft>
              <a:defRPr sz="1700"/>
            </a:pPr>
            <a:r>
              <a:rPr dirty="0"/>
              <a:t>      Answer</a:t>
            </a:r>
          </a:p>
        </p:txBody>
      </p:sp>
      <p:sp>
        <p:nvSpPr>
          <p:cNvPr id="4" name="Rectangle 3"/>
          <p:cNvSpPr/>
          <p:nvPr/>
        </p:nvSpPr>
        <p:spPr>
          <a:xfrm>
            <a:off x="502920" y="6565392"/>
            <a:ext cx="11155680" cy="13716"/>
          </a:xfrm>
          <a:prstGeom prst="rect">
            <a:avLst/>
          </a:prstGeom>
          <a:solidFill>
            <a:srgbClr val="D2D6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0607040" y="6601968"/>
            <a:ext cx="1005840" cy="182880"/>
          </a:xfrm>
          <a:prstGeom prst="rect">
            <a:avLst/>
          </a:prstGeom>
          <a:noFill/>
        </p:spPr>
        <p:txBody>
          <a:bodyPr wrap="none">
            <a:spAutoFit/>
          </a:bodyPr>
          <a:lstStyle/>
          <a:p>
            <a:pPr algn="r">
              <a:defRPr sz="900"/>
            </a:pPr>
            <a:r>
              <a:t>43</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2920" y="228600"/>
            <a:ext cx="11155680" cy="594360"/>
          </a:xfrm>
          <a:prstGeom prst="rect">
            <a:avLst/>
          </a:prstGeom>
          <a:noFill/>
        </p:spPr>
        <p:txBody>
          <a:bodyPr wrap="none">
            <a:spAutoFit/>
          </a:bodyPr>
          <a:lstStyle/>
          <a:p>
            <a:pPr>
              <a:defRPr sz="2800" b="1"/>
            </a:pPr>
            <a:r>
              <a:t>32. Context Injection</a:t>
            </a:r>
          </a:p>
        </p:txBody>
      </p:sp>
      <p:sp>
        <p:nvSpPr>
          <p:cNvPr id="3" name="TextBox 2"/>
          <p:cNvSpPr txBox="1"/>
          <p:nvPr/>
        </p:nvSpPr>
        <p:spPr>
          <a:xfrm>
            <a:off x="594360" y="1051560"/>
            <a:ext cx="10972800" cy="5303520"/>
          </a:xfrm>
          <a:prstGeom prst="rect">
            <a:avLst/>
          </a:prstGeom>
          <a:noFill/>
        </p:spPr>
        <p:txBody>
          <a:bodyPr wrap="square">
            <a:normAutofit fontScale="77500" lnSpcReduction="20000"/>
          </a:bodyPr>
          <a:lstStyle/>
          <a:p>
            <a:pPr>
              <a:spcAft>
                <a:spcPts val="600"/>
              </a:spcAft>
              <a:defRPr sz="1700"/>
            </a:pPr>
            <a:r>
              <a:rPr dirty="0"/>
              <a:t>This is the Augmented part of RAG.</a:t>
            </a:r>
          </a:p>
          <a:p>
            <a:pPr>
              <a:spcAft>
                <a:spcPts val="600"/>
              </a:spcAft>
              <a:defRPr sz="1700"/>
            </a:pPr>
            <a:endParaRPr dirty="0"/>
          </a:p>
          <a:p>
            <a:pPr>
              <a:spcAft>
                <a:spcPts val="600"/>
              </a:spcAft>
              <a:defRPr sz="1700"/>
            </a:pPr>
            <a:r>
              <a:rPr dirty="0"/>
              <a:t>Suppose retrieved information is:</a:t>
            </a:r>
          </a:p>
          <a:p>
            <a:pPr>
              <a:spcAft>
                <a:spcPts val="600"/>
              </a:spcAft>
              <a:defRPr sz="1700"/>
            </a:pPr>
            <a:r>
              <a:rPr dirty="0"/>
              <a:t>Employees are entitled to 20 days of annual leave.</a:t>
            </a:r>
          </a:p>
          <a:p>
            <a:pPr>
              <a:spcAft>
                <a:spcPts val="600"/>
              </a:spcAft>
              <a:defRPr sz="1700"/>
            </a:pPr>
            <a:r>
              <a:rPr dirty="0"/>
              <a:t>Unused leave can be carried forward up to 5 days.</a:t>
            </a:r>
          </a:p>
          <a:p>
            <a:pPr>
              <a:spcAft>
                <a:spcPts val="600"/>
              </a:spcAft>
              <a:defRPr sz="1700"/>
            </a:pPr>
            <a:endParaRPr dirty="0"/>
          </a:p>
          <a:p>
            <a:pPr>
              <a:spcAft>
                <a:spcPts val="600"/>
              </a:spcAft>
              <a:defRPr sz="1700"/>
            </a:pPr>
            <a:r>
              <a:rPr dirty="0"/>
              <a:t>We construct a prompt like:</a:t>
            </a:r>
          </a:p>
          <a:p>
            <a:pPr>
              <a:spcAft>
                <a:spcPts val="600"/>
              </a:spcAft>
              <a:defRPr sz="1700"/>
            </a:pPr>
            <a:endParaRPr dirty="0"/>
          </a:p>
          <a:p>
            <a:pPr>
              <a:spcAft>
                <a:spcPts val="600"/>
              </a:spcAft>
              <a:defRPr sz="1700"/>
            </a:pPr>
            <a:r>
              <a:rPr dirty="0"/>
              <a:t>Use the following context to answer the question.</a:t>
            </a:r>
          </a:p>
          <a:p>
            <a:pPr>
              <a:spcAft>
                <a:spcPts val="600"/>
              </a:spcAft>
              <a:defRPr sz="1700"/>
            </a:pPr>
            <a:endParaRPr dirty="0"/>
          </a:p>
          <a:p>
            <a:pPr>
              <a:spcAft>
                <a:spcPts val="600"/>
              </a:spcAft>
              <a:defRPr sz="1700"/>
            </a:pPr>
            <a:r>
              <a:rPr dirty="0"/>
              <a:t>Context:</a:t>
            </a:r>
          </a:p>
          <a:p>
            <a:pPr>
              <a:spcAft>
                <a:spcPts val="600"/>
              </a:spcAft>
              <a:defRPr sz="1700"/>
            </a:pPr>
            <a:r>
              <a:rPr dirty="0"/>
              <a:t>Employees are entitled to 20 days of annual leave.</a:t>
            </a:r>
          </a:p>
          <a:p>
            <a:pPr>
              <a:spcAft>
                <a:spcPts val="600"/>
              </a:spcAft>
              <a:defRPr sz="1700"/>
            </a:pPr>
            <a:r>
              <a:rPr dirty="0"/>
              <a:t>Unused leave can be carried forward up to 5 days.</a:t>
            </a:r>
          </a:p>
          <a:p>
            <a:pPr>
              <a:spcAft>
                <a:spcPts val="600"/>
              </a:spcAft>
              <a:defRPr sz="1700"/>
            </a:pPr>
            <a:endParaRPr dirty="0"/>
          </a:p>
          <a:p>
            <a:pPr>
              <a:spcAft>
                <a:spcPts val="600"/>
              </a:spcAft>
              <a:defRPr sz="1700"/>
            </a:pPr>
            <a:r>
              <a:rPr dirty="0"/>
              <a:t>Question:</a:t>
            </a:r>
          </a:p>
          <a:p>
            <a:pPr>
              <a:spcAft>
                <a:spcPts val="600"/>
              </a:spcAft>
              <a:defRPr sz="1700"/>
            </a:pPr>
            <a:r>
              <a:rPr dirty="0"/>
              <a:t>How many annual leaves can I take?</a:t>
            </a:r>
          </a:p>
          <a:p>
            <a:pPr>
              <a:spcAft>
                <a:spcPts val="600"/>
              </a:spcAft>
              <a:defRPr sz="1700"/>
            </a:pPr>
            <a:r>
              <a:rPr dirty="0"/>
              <a:t>Answer:</a:t>
            </a:r>
          </a:p>
          <a:p>
            <a:pPr>
              <a:spcAft>
                <a:spcPts val="600"/>
              </a:spcAft>
              <a:defRPr sz="1700"/>
            </a:pPr>
            <a:endParaRPr dirty="0"/>
          </a:p>
          <a:p>
            <a:pPr>
              <a:spcAft>
                <a:spcPts val="600"/>
              </a:spcAft>
              <a:defRPr sz="1700"/>
            </a:pPr>
            <a:r>
              <a:rPr dirty="0"/>
              <a:t>The LLM then generates:</a:t>
            </a:r>
          </a:p>
          <a:p>
            <a:pPr>
              <a:spcAft>
                <a:spcPts val="600"/>
              </a:spcAft>
              <a:defRPr sz="1700"/>
            </a:pPr>
            <a:r>
              <a:rPr dirty="0"/>
              <a:t>Employees are entitled to 20 days of annual leave.</a:t>
            </a:r>
          </a:p>
          <a:p>
            <a:pPr>
              <a:spcAft>
                <a:spcPts val="600"/>
              </a:spcAft>
              <a:defRPr sz="1700"/>
            </a:pPr>
            <a:endParaRPr dirty="0"/>
          </a:p>
          <a:p>
            <a:pPr>
              <a:spcAft>
                <a:spcPts val="600"/>
              </a:spcAft>
              <a:defRPr sz="1700"/>
            </a:pPr>
            <a:r>
              <a:rPr dirty="0"/>
              <a:t>This is called context injection.</a:t>
            </a:r>
          </a:p>
        </p:txBody>
      </p:sp>
      <p:sp>
        <p:nvSpPr>
          <p:cNvPr id="4" name="Rectangle 3"/>
          <p:cNvSpPr/>
          <p:nvPr/>
        </p:nvSpPr>
        <p:spPr>
          <a:xfrm>
            <a:off x="502920" y="6565392"/>
            <a:ext cx="11155680" cy="13716"/>
          </a:xfrm>
          <a:prstGeom prst="rect">
            <a:avLst/>
          </a:prstGeom>
          <a:solidFill>
            <a:srgbClr val="D2D6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0607040" y="6601968"/>
            <a:ext cx="1005840" cy="182880"/>
          </a:xfrm>
          <a:prstGeom prst="rect">
            <a:avLst/>
          </a:prstGeom>
          <a:noFill/>
        </p:spPr>
        <p:txBody>
          <a:bodyPr wrap="none">
            <a:spAutoFit/>
          </a:bodyPr>
          <a:lstStyle/>
          <a:p>
            <a:pPr algn="r">
              <a:defRPr sz="900"/>
            </a:pPr>
            <a:r>
              <a:t>44</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2920" y="228600"/>
            <a:ext cx="11155680" cy="594360"/>
          </a:xfrm>
          <a:prstGeom prst="rect">
            <a:avLst/>
          </a:prstGeom>
          <a:noFill/>
        </p:spPr>
        <p:txBody>
          <a:bodyPr wrap="none">
            <a:spAutoFit/>
          </a:bodyPr>
          <a:lstStyle/>
          <a:p>
            <a:pPr>
              <a:defRPr sz="2800" b="1"/>
            </a:pPr>
            <a:r>
              <a:t>33. RAG Components — Component 1: Retriever</a:t>
            </a:r>
          </a:p>
        </p:txBody>
      </p:sp>
      <p:sp>
        <p:nvSpPr>
          <p:cNvPr id="3" name="TextBox 2"/>
          <p:cNvSpPr txBox="1"/>
          <p:nvPr/>
        </p:nvSpPr>
        <p:spPr>
          <a:xfrm>
            <a:off x="594360" y="1051560"/>
            <a:ext cx="10972800" cy="5303520"/>
          </a:xfrm>
          <a:prstGeom prst="rect">
            <a:avLst/>
          </a:prstGeom>
          <a:noFill/>
        </p:spPr>
        <p:txBody>
          <a:bodyPr wrap="square">
            <a:normAutofit fontScale="85000" lnSpcReduction="20000"/>
          </a:bodyPr>
          <a:lstStyle/>
          <a:p>
            <a:pPr>
              <a:spcAft>
                <a:spcPts val="600"/>
              </a:spcAft>
              <a:defRPr sz="1700"/>
            </a:pPr>
            <a:r>
              <a:rPr dirty="0"/>
              <a:t>The retriever answers:</a:t>
            </a:r>
          </a:p>
          <a:p>
            <a:pPr>
              <a:spcAft>
                <a:spcPts val="600"/>
              </a:spcAft>
              <a:defRPr sz="1700"/>
            </a:pPr>
            <a:r>
              <a:rPr dirty="0"/>
              <a:t>"Which pieces of information are relevant to this question?"</a:t>
            </a:r>
          </a:p>
          <a:p>
            <a:pPr>
              <a:spcAft>
                <a:spcPts val="600"/>
              </a:spcAft>
              <a:defRPr sz="1700"/>
            </a:pPr>
            <a:endParaRPr dirty="0"/>
          </a:p>
          <a:p>
            <a:pPr>
              <a:spcAft>
                <a:spcPts val="600"/>
              </a:spcAft>
              <a:defRPr sz="1700"/>
            </a:pPr>
            <a:r>
              <a:rPr dirty="0"/>
              <a:t>It receives:</a:t>
            </a:r>
          </a:p>
          <a:p>
            <a:pPr>
              <a:spcAft>
                <a:spcPts val="600"/>
              </a:spcAft>
              <a:defRPr sz="1700"/>
            </a:pPr>
            <a:r>
              <a:rPr dirty="0"/>
              <a:t>User Query</a:t>
            </a:r>
          </a:p>
          <a:p>
            <a:pPr>
              <a:spcAft>
                <a:spcPts val="600"/>
              </a:spcAft>
              <a:defRPr sz="1700"/>
            </a:pPr>
            <a:endParaRPr dirty="0"/>
          </a:p>
          <a:p>
            <a:pPr>
              <a:spcAft>
                <a:spcPts val="600"/>
              </a:spcAft>
              <a:defRPr sz="1700"/>
            </a:pPr>
            <a:r>
              <a:rPr dirty="0"/>
              <a:t>and returns:</a:t>
            </a:r>
          </a:p>
          <a:p>
            <a:pPr>
              <a:spcAft>
                <a:spcPts val="600"/>
              </a:spcAft>
              <a:defRPr sz="1700"/>
            </a:pPr>
            <a:r>
              <a:rPr dirty="0"/>
              <a:t>Relevant Documents/Chunks</a:t>
            </a:r>
          </a:p>
          <a:p>
            <a:pPr>
              <a:spcAft>
                <a:spcPts val="600"/>
              </a:spcAft>
              <a:defRPr sz="1700"/>
            </a:pPr>
            <a:endParaRPr dirty="0"/>
          </a:p>
          <a:p>
            <a:pPr>
              <a:spcAft>
                <a:spcPts val="600"/>
              </a:spcAft>
              <a:defRPr sz="1700"/>
            </a:pPr>
            <a:r>
              <a:rPr dirty="0"/>
              <a:t>Example:</a:t>
            </a:r>
          </a:p>
          <a:p>
            <a:pPr>
              <a:spcAft>
                <a:spcPts val="600"/>
              </a:spcAft>
              <a:defRPr sz="1700"/>
            </a:pPr>
            <a:r>
              <a:rPr dirty="0"/>
              <a:t>Question</a:t>
            </a:r>
          </a:p>
          <a:p>
            <a:pPr>
              <a:spcAft>
                <a:spcPts val="600"/>
              </a:spcAft>
              <a:defRPr sz="1700"/>
            </a:pPr>
            <a:r>
              <a:rPr dirty="0"/>
              <a:t>   ↓</a:t>
            </a:r>
          </a:p>
          <a:p>
            <a:pPr>
              <a:spcAft>
                <a:spcPts val="600"/>
              </a:spcAft>
              <a:defRPr sz="1700"/>
            </a:pPr>
            <a:r>
              <a:rPr dirty="0"/>
              <a:t>Retriever</a:t>
            </a:r>
          </a:p>
          <a:p>
            <a:pPr>
              <a:spcAft>
                <a:spcPts val="600"/>
              </a:spcAft>
              <a:defRPr sz="1700"/>
            </a:pPr>
            <a:r>
              <a:rPr dirty="0"/>
              <a:t>   ↓</a:t>
            </a:r>
          </a:p>
          <a:p>
            <a:pPr>
              <a:spcAft>
                <a:spcPts val="600"/>
              </a:spcAft>
              <a:defRPr sz="1700"/>
            </a:pPr>
            <a:r>
              <a:rPr dirty="0"/>
              <a:t>Top 5 relevant chunks</a:t>
            </a:r>
          </a:p>
          <a:p>
            <a:pPr>
              <a:spcAft>
                <a:spcPts val="600"/>
              </a:spcAft>
              <a:defRPr sz="1700"/>
            </a:pPr>
            <a:endParaRPr dirty="0"/>
          </a:p>
          <a:p>
            <a:pPr>
              <a:spcAft>
                <a:spcPts val="600"/>
              </a:spcAft>
              <a:defRPr sz="1700"/>
            </a:pPr>
            <a:r>
              <a:rPr dirty="0"/>
              <a:t>he retriever can use:</a:t>
            </a:r>
          </a:p>
          <a:p>
            <a:pPr>
              <a:spcAft>
                <a:spcPts val="600"/>
              </a:spcAft>
              <a:defRPr sz="1700"/>
            </a:pPr>
            <a:r>
              <a:rPr dirty="0"/>
              <a:t>Semantic search</a:t>
            </a:r>
          </a:p>
          <a:p>
            <a:pPr>
              <a:spcAft>
                <a:spcPts val="600"/>
              </a:spcAft>
              <a:defRPr sz="1700"/>
            </a:pPr>
            <a:r>
              <a:rPr dirty="0"/>
              <a:t>Keyword search</a:t>
            </a:r>
          </a:p>
          <a:p>
            <a:pPr>
              <a:spcAft>
                <a:spcPts val="600"/>
              </a:spcAft>
              <a:defRPr sz="1700"/>
            </a:pPr>
            <a:r>
              <a:rPr dirty="0"/>
              <a:t>Hybrid search</a:t>
            </a:r>
          </a:p>
          <a:p>
            <a:pPr>
              <a:spcAft>
                <a:spcPts val="600"/>
              </a:spcAft>
              <a:defRPr sz="1700"/>
            </a:pPr>
            <a:r>
              <a:rPr dirty="0"/>
              <a:t>Metadata filtering</a:t>
            </a:r>
          </a:p>
        </p:txBody>
      </p:sp>
      <p:sp>
        <p:nvSpPr>
          <p:cNvPr id="4" name="Rectangle 3"/>
          <p:cNvSpPr/>
          <p:nvPr/>
        </p:nvSpPr>
        <p:spPr>
          <a:xfrm>
            <a:off x="502920" y="6565392"/>
            <a:ext cx="11155680" cy="13716"/>
          </a:xfrm>
          <a:prstGeom prst="rect">
            <a:avLst/>
          </a:prstGeom>
          <a:solidFill>
            <a:srgbClr val="D2D6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0607040" y="6601968"/>
            <a:ext cx="1005840" cy="182880"/>
          </a:xfrm>
          <a:prstGeom prst="rect">
            <a:avLst/>
          </a:prstGeom>
          <a:noFill/>
        </p:spPr>
        <p:txBody>
          <a:bodyPr wrap="none">
            <a:spAutoFit/>
          </a:bodyPr>
          <a:lstStyle/>
          <a:p>
            <a:pPr algn="r">
              <a:defRPr sz="900"/>
            </a:pPr>
            <a:r>
              <a:t>45</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2920" y="228600"/>
            <a:ext cx="11155680" cy="594360"/>
          </a:xfrm>
          <a:prstGeom prst="rect">
            <a:avLst/>
          </a:prstGeom>
          <a:noFill/>
        </p:spPr>
        <p:txBody>
          <a:bodyPr wrap="none">
            <a:spAutoFit/>
          </a:bodyPr>
          <a:lstStyle/>
          <a:p>
            <a:pPr>
              <a:defRPr sz="2800" b="1"/>
            </a:pPr>
            <a:r>
              <a:t>34. RAG Components — Component 2: Vector Store</a:t>
            </a:r>
          </a:p>
        </p:txBody>
      </p:sp>
      <p:sp>
        <p:nvSpPr>
          <p:cNvPr id="3" name="TextBox 2"/>
          <p:cNvSpPr txBox="1"/>
          <p:nvPr/>
        </p:nvSpPr>
        <p:spPr>
          <a:xfrm>
            <a:off x="594360" y="1051560"/>
            <a:ext cx="10972800" cy="5303520"/>
          </a:xfrm>
          <a:prstGeom prst="rect">
            <a:avLst/>
          </a:prstGeom>
          <a:noFill/>
        </p:spPr>
        <p:txBody>
          <a:bodyPr wrap="square">
            <a:normAutofit lnSpcReduction="10000"/>
          </a:bodyPr>
          <a:lstStyle/>
          <a:p>
            <a:pPr>
              <a:spcAft>
                <a:spcPts val="600"/>
              </a:spcAft>
              <a:defRPr sz="1700"/>
            </a:pPr>
            <a:r>
              <a:rPr dirty="0"/>
              <a:t>The vector store stores:</a:t>
            </a:r>
          </a:p>
          <a:p>
            <a:pPr>
              <a:spcAft>
                <a:spcPts val="600"/>
              </a:spcAft>
              <a:defRPr sz="1700"/>
            </a:pPr>
            <a:endParaRPr dirty="0"/>
          </a:p>
          <a:p>
            <a:pPr>
              <a:spcAft>
                <a:spcPts val="600"/>
              </a:spcAft>
              <a:defRPr sz="1700"/>
            </a:pPr>
            <a:r>
              <a:rPr dirty="0"/>
              <a:t>Chunks</a:t>
            </a:r>
          </a:p>
          <a:p>
            <a:pPr>
              <a:spcAft>
                <a:spcPts val="600"/>
              </a:spcAft>
              <a:defRPr sz="1700"/>
            </a:pPr>
            <a:r>
              <a:rPr dirty="0"/>
              <a:t>+</a:t>
            </a:r>
          </a:p>
          <a:p>
            <a:pPr>
              <a:spcAft>
                <a:spcPts val="600"/>
              </a:spcAft>
              <a:defRPr sz="1700"/>
            </a:pPr>
            <a:r>
              <a:rPr dirty="0"/>
              <a:t>Embeddings</a:t>
            </a:r>
          </a:p>
          <a:p>
            <a:pPr>
              <a:spcAft>
                <a:spcPts val="600"/>
              </a:spcAft>
              <a:defRPr sz="1700"/>
            </a:pPr>
            <a:r>
              <a:rPr dirty="0"/>
              <a:t>+</a:t>
            </a:r>
          </a:p>
          <a:p>
            <a:pPr>
              <a:spcAft>
                <a:spcPts val="600"/>
              </a:spcAft>
              <a:defRPr sz="1700"/>
            </a:pPr>
            <a:r>
              <a:rPr dirty="0"/>
              <a:t>Metadata</a:t>
            </a:r>
          </a:p>
          <a:p>
            <a:pPr>
              <a:spcAft>
                <a:spcPts val="600"/>
              </a:spcAft>
              <a:defRPr sz="1700"/>
            </a:pPr>
            <a:endParaRPr dirty="0"/>
          </a:p>
          <a:p>
            <a:pPr>
              <a:spcAft>
                <a:spcPts val="600"/>
              </a:spcAft>
              <a:defRPr sz="1700"/>
            </a:pPr>
            <a:r>
              <a:rPr dirty="0"/>
              <a:t>Examples:</a:t>
            </a:r>
          </a:p>
          <a:p>
            <a:pPr>
              <a:spcAft>
                <a:spcPts val="600"/>
              </a:spcAft>
              <a:defRPr sz="1700"/>
            </a:pPr>
            <a:r>
              <a:rPr dirty="0"/>
              <a:t>FAISS</a:t>
            </a:r>
          </a:p>
          <a:p>
            <a:pPr>
              <a:spcAft>
                <a:spcPts val="600"/>
              </a:spcAft>
              <a:defRPr sz="1700"/>
            </a:pPr>
            <a:r>
              <a:rPr dirty="0" err="1"/>
              <a:t>ChromaDB</a:t>
            </a:r>
            <a:endParaRPr dirty="0"/>
          </a:p>
          <a:p>
            <a:pPr>
              <a:spcAft>
                <a:spcPts val="600"/>
              </a:spcAft>
              <a:defRPr sz="1700"/>
            </a:pPr>
            <a:r>
              <a:rPr dirty="0"/>
              <a:t>Pinecone</a:t>
            </a:r>
          </a:p>
          <a:p>
            <a:pPr>
              <a:spcAft>
                <a:spcPts val="600"/>
              </a:spcAft>
              <a:defRPr sz="1700"/>
            </a:pPr>
            <a:r>
              <a:rPr dirty="0"/>
              <a:t>Weaviate</a:t>
            </a:r>
          </a:p>
          <a:p>
            <a:pPr>
              <a:spcAft>
                <a:spcPts val="600"/>
              </a:spcAft>
              <a:defRPr sz="1700"/>
            </a:pPr>
            <a:r>
              <a:rPr dirty="0" err="1"/>
              <a:t>Qdrant</a:t>
            </a:r>
            <a:endParaRPr dirty="0"/>
          </a:p>
          <a:p>
            <a:pPr>
              <a:spcAft>
                <a:spcPts val="600"/>
              </a:spcAft>
              <a:defRPr sz="1700"/>
            </a:pPr>
            <a:r>
              <a:rPr dirty="0"/>
              <a:t>Milvus</a:t>
            </a:r>
          </a:p>
          <a:p>
            <a:pPr>
              <a:spcAft>
                <a:spcPts val="600"/>
              </a:spcAft>
              <a:defRPr sz="1700"/>
            </a:pPr>
            <a:r>
              <a:rPr dirty="0"/>
              <a:t>Its main job is:</a:t>
            </a:r>
          </a:p>
          <a:p>
            <a:pPr>
              <a:spcAft>
                <a:spcPts val="600"/>
              </a:spcAft>
              <a:defRPr sz="1700"/>
            </a:pPr>
            <a:r>
              <a:rPr dirty="0"/>
              <a:t>Store vectors and help retrieve similar vectors efficiently.</a:t>
            </a:r>
          </a:p>
        </p:txBody>
      </p:sp>
      <p:sp>
        <p:nvSpPr>
          <p:cNvPr id="4" name="Rectangle 3"/>
          <p:cNvSpPr/>
          <p:nvPr/>
        </p:nvSpPr>
        <p:spPr>
          <a:xfrm>
            <a:off x="502920" y="6565392"/>
            <a:ext cx="11155680" cy="13716"/>
          </a:xfrm>
          <a:prstGeom prst="rect">
            <a:avLst/>
          </a:prstGeom>
          <a:solidFill>
            <a:srgbClr val="D2D6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0607040" y="6601968"/>
            <a:ext cx="1005840" cy="182880"/>
          </a:xfrm>
          <a:prstGeom prst="rect">
            <a:avLst/>
          </a:prstGeom>
          <a:noFill/>
        </p:spPr>
        <p:txBody>
          <a:bodyPr wrap="none">
            <a:spAutoFit/>
          </a:bodyPr>
          <a:lstStyle/>
          <a:p>
            <a:pPr algn="r">
              <a:defRPr sz="900"/>
            </a:pPr>
            <a:r>
              <a:t>46</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2920" y="228600"/>
            <a:ext cx="11155680" cy="594360"/>
          </a:xfrm>
          <a:prstGeom prst="rect">
            <a:avLst/>
          </a:prstGeom>
          <a:noFill/>
        </p:spPr>
        <p:txBody>
          <a:bodyPr wrap="none">
            <a:spAutoFit/>
          </a:bodyPr>
          <a:lstStyle/>
          <a:p>
            <a:pPr>
              <a:defRPr sz="2800" b="1"/>
            </a:pPr>
            <a:r>
              <a:t>35. RAG Components — Component 3: LLM Generation</a:t>
            </a:r>
          </a:p>
        </p:txBody>
      </p:sp>
      <p:sp>
        <p:nvSpPr>
          <p:cNvPr id="3" name="TextBox 2"/>
          <p:cNvSpPr txBox="1"/>
          <p:nvPr/>
        </p:nvSpPr>
        <p:spPr>
          <a:xfrm>
            <a:off x="594360" y="1051560"/>
            <a:ext cx="10972800" cy="5303520"/>
          </a:xfrm>
          <a:prstGeom prst="rect">
            <a:avLst/>
          </a:prstGeom>
          <a:noFill/>
        </p:spPr>
        <p:txBody>
          <a:bodyPr wrap="square">
            <a:normAutofit/>
          </a:bodyPr>
          <a:lstStyle/>
          <a:p>
            <a:pPr>
              <a:spcAft>
                <a:spcPts val="600"/>
              </a:spcAft>
              <a:defRPr sz="1700"/>
            </a:pPr>
            <a:r>
              <a:t>After retrieval, the LLM receives:</a:t>
            </a:r>
          </a:p>
          <a:p>
            <a:pPr>
              <a:spcAft>
                <a:spcPts val="600"/>
              </a:spcAft>
              <a:defRPr sz="1700"/>
            </a:pPr>
            <a:endParaRPr/>
          </a:p>
          <a:p>
            <a:pPr>
              <a:spcAft>
                <a:spcPts val="600"/>
              </a:spcAft>
              <a:defRPr sz="1700"/>
            </a:pPr>
            <a:r>
              <a:t>Question</a:t>
            </a:r>
          </a:p>
          <a:p>
            <a:pPr>
              <a:spcAft>
                <a:spcPts val="600"/>
              </a:spcAft>
              <a:defRPr sz="1700"/>
            </a:pPr>
            <a:r>
              <a:t>+</a:t>
            </a:r>
          </a:p>
          <a:p>
            <a:pPr>
              <a:spcAft>
                <a:spcPts val="600"/>
              </a:spcAft>
              <a:defRPr sz="1700"/>
            </a:pPr>
            <a:r>
              <a:t>Retrieved Context</a:t>
            </a:r>
          </a:p>
          <a:p>
            <a:pPr>
              <a:spcAft>
                <a:spcPts val="600"/>
              </a:spcAft>
              <a:defRPr sz="1700"/>
            </a:pPr>
            <a:endParaRPr/>
          </a:p>
          <a:p>
            <a:pPr>
              <a:spcAft>
                <a:spcPts val="600"/>
              </a:spcAft>
              <a:defRPr sz="1700"/>
            </a:pPr>
            <a:r>
              <a:t>Then it generates the final answer.</a:t>
            </a:r>
          </a:p>
          <a:p>
            <a:pPr>
              <a:spcAft>
                <a:spcPts val="600"/>
              </a:spcAft>
              <a:defRPr sz="1700"/>
            </a:pPr>
            <a:endParaRPr/>
          </a:p>
          <a:p>
            <a:pPr>
              <a:spcAft>
                <a:spcPts val="600"/>
              </a:spcAft>
              <a:defRPr sz="1700"/>
            </a:pPr>
            <a:r>
              <a:t>The LLM is therefore responsible for generation, not primarily for searching your documents.</a:t>
            </a:r>
          </a:p>
          <a:p>
            <a:pPr>
              <a:spcAft>
                <a:spcPts val="600"/>
              </a:spcAft>
              <a:defRPr sz="1700"/>
            </a:pPr>
            <a:endParaRPr/>
          </a:p>
          <a:p>
            <a:pPr>
              <a:spcAft>
                <a:spcPts val="600"/>
              </a:spcAft>
              <a:defRPr sz="1700"/>
            </a:pPr>
            <a:r>
              <a:t>This is an important distinction to teach.</a:t>
            </a:r>
          </a:p>
        </p:txBody>
      </p:sp>
      <p:sp>
        <p:nvSpPr>
          <p:cNvPr id="4" name="Rectangle 3"/>
          <p:cNvSpPr/>
          <p:nvPr/>
        </p:nvSpPr>
        <p:spPr>
          <a:xfrm>
            <a:off x="502920" y="6565392"/>
            <a:ext cx="11155680" cy="13716"/>
          </a:xfrm>
          <a:prstGeom prst="rect">
            <a:avLst/>
          </a:prstGeom>
          <a:solidFill>
            <a:srgbClr val="D2D6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0607040" y="6601968"/>
            <a:ext cx="1005840" cy="182880"/>
          </a:xfrm>
          <a:prstGeom prst="rect">
            <a:avLst/>
          </a:prstGeom>
          <a:noFill/>
        </p:spPr>
        <p:txBody>
          <a:bodyPr wrap="none">
            <a:spAutoFit/>
          </a:bodyPr>
          <a:lstStyle/>
          <a:p>
            <a:pPr algn="r">
              <a:defRPr sz="900"/>
            </a:pPr>
            <a:r>
              <a:t>47</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2920" y="228600"/>
            <a:ext cx="3833422" cy="523220"/>
          </a:xfrm>
          <a:prstGeom prst="rect">
            <a:avLst/>
          </a:prstGeom>
          <a:noFill/>
        </p:spPr>
        <p:txBody>
          <a:bodyPr wrap="none">
            <a:spAutoFit/>
          </a:bodyPr>
          <a:lstStyle/>
          <a:p>
            <a:pPr>
              <a:defRPr sz="2800" b="1"/>
            </a:pPr>
            <a:r>
              <a:rPr dirty="0"/>
              <a:t>36. RAG Components — </a:t>
            </a:r>
          </a:p>
        </p:txBody>
      </p:sp>
      <p:sp>
        <p:nvSpPr>
          <p:cNvPr id="3" name="TextBox 2"/>
          <p:cNvSpPr txBox="1"/>
          <p:nvPr/>
        </p:nvSpPr>
        <p:spPr>
          <a:xfrm>
            <a:off x="594360" y="1051560"/>
            <a:ext cx="10972800" cy="5303520"/>
          </a:xfrm>
          <a:prstGeom prst="rect">
            <a:avLst/>
          </a:prstGeom>
          <a:noFill/>
        </p:spPr>
        <p:txBody>
          <a:bodyPr wrap="square">
            <a:normAutofit fontScale="77500" lnSpcReduction="20000"/>
          </a:bodyPr>
          <a:lstStyle/>
          <a:p>
            <a:pPr>
              <a:spcAft>
                <a:spcPts val="600"/>
              </a:spcAft>
              <a:defRPr sz="1700"/>
            </a:pPr>
            <a:r>
              <a:rPr dirty="0"/>
              <a:t>The retrieved information is called the context used to augment the original question.</a:t>
            </a:r>
          </a:p>
          <a:p>
            <a:pPr>
              <a:spcAft>
                <a:spcPts val="600"/>
              </a:spcAft>
              <a:defRPr sz="1700"/>
            </a:pPr>
            <a:endParaRPr dirty="0"/>
          </a:p>
          <a:p>
            <a:pPr>
              <a:spcAft>
                <a:spcPts val="600"/>
              </a:spcAft>
              <a:defRPr sz="1700"/>
            </a:pPr>
            <a:r>
              <a:rPr dirty="0"/>
              <a:t>Without RAG:</a:t>
            </a:r>
          </a:p>
          <a:p>
            <a:pPr>
              <a:spcAft>
                <a:spcPts val="600"/>
              </a:spcAft>
              <a:defRPr sz="1700"/>
            </a:pPr>
            <a:r>
              <a:rPr dirty="0"/>
              <a:t>Question</a:t>
            </a:r>
          </a:p>
          <a:p>
            <a:pPr>
              <a:spcAft>
                <a:spcPts val="600"/>
              </a:spcAft>
              <a:defRPr sz="1700"/>
            </a:pPr>
            <a:r>
              <a:rPr dirty="0"/>
              <a:t>   ↓</a:t>
            </a:r>
          </a:p>
          <a:p>
            <a:pPr>
              <a:spcAft>
                <a:spcPts val="600"/>
              </a:spcAft>
              <a:defRPr sz="1700"/>
            </a:pPr>
            <a:r>
              <a:rPr dirty="0"/>
              <a:t>LLM</a:t>
            </a:r>
          </a:p>
          <a:p>
            <a:pPr>
              <a:spcAft>
                <a:spcPts val="600"/>
              </a:spcAft>
              <a:defRPr sz="1700"/>
            </a:pPr>
            <a:r>
              <a:rPr dirty="0"/>
              <a:t>   ↓</a:t>
            </a:r>
          </a:p>
          <a:p>
            <a:pPr>
              <a:spcAft>
                <a:spcPts val="600"/>
              </a:spcAft>
              <a:defRPr sz="1700"/>
            </a:pPr>
            <a:r>
              <a:rPr dirty="0"/>
              <a:t>Answer</a:t>
            </a:r>
          </a:p>
          <a:p>
            <a:pPr>
              <a:spcAft>
                <a:spcPts val="600"/>
              </a:spcAft>
              <a:defRPr sz="1700"/>
            </a:pPr>
            <a:r>
              <a:rPr dirty="0"/>
              <a:t>With RAG:</a:t>
            </a:r>
          </a:p>
          <a:p>
            <a:pPr>
              <a:spcAft>
                <a:spcPts val="600"/>
              </a:spcAft>
              <a:defRPr sz="1700"/>
            </a:pPr>
            <a:r>
              <a:rPr dirty="0"/>
              <a:t>Question</a:t>
            </a:r>
          </a:p>
          <a:p>
            <a:pPr>
              <a:spcAft>
                <a:spcPts val="600"/>
              </a:spcAft>
              <a:defRPr sz="1700"/>
            </a:pPr>
            <a:r>
              <a:rPr dirty="0"/>
              <a:t>   ↓</a:t>
            </a:r>
          </a:p>
          <a:p>
            <a:pPr>
              <a:spcAft>
                <a:spcPts val="600"/>
              </a:spcAft>
              <a:defRPr sz="1700"/>
            </a:pPr>
            <a:r>
              <a:rPr dirty="0"/>
              <a:t>Retriever</a:t>
            </a:r>
          </a:p>
          <a:p>
            <a:pPr>
              <a:spcAft>
                <a:spcPts val="600"/>
              </a:spcAft>
              <a:defRPr sz="1700"/>
            </a:pPr>
            <a:r>
              <a:rPr dirty="0"/>
              <a:t>   ↓</a:t>
            </a:r>
          </a:p>
          <a:p>
            <a:pPr>
              <a:spcAft>
                <a:spcPts val="600"/>
              </a:spcAft>
              <a:defRPr sz="1700"/>
            </a:pPr>
            <a:r>
              <a:rPr dirty="0"/>
              <a:t>Relevant Information</a:t>
            </a:r>
          </a:p>
          <a:p>
            <a:pPr>
              <a:spcAft>
                <a:spcPts val="600"/>
              </a:spcAft>
              <a:defRPr sz="1700"/>
            </a:pPr>
            <a:r>
              <a:rPr dirty="0"/>
              <a:t>   ↓</a:t>
            </a:r>
          </a:p>
          <a:p>
            <a:pPr>
              <a:spcAft>
                <a:spcPts val="600"/>
              </a:spcAft>
              <a:defRPr sz="1700"/>
            </a:pPr>
            <a:r>
              <a:rPr dirty="0"/>
              <a:t>Question + Context</a:t>
            </a:r>
          </a:p>
          <a:p>
            <a:pPr>
              <a:spcAft>
                <a:spcPts val="600"/>
              </a:spcAft>
              <a:defRPr sz="1700"/>
            </a:pPr>
            <a:r>
              <a:rPr dirty="0"/>
              <a:t>   ↓</a:t>
            </a:r>
          </a:p>
          <a:p>
            <a:pPr>
              <a:spcAft>
                <a:spcPts val="600"/>
              </a:spcAft>
              <a:defRPr sz="1700"/>
            </a:pPr>
            <a:r>
              <a:rPr dirty="0"/>
              <a:t>LLM</a:t>
            </a:r>
          </a:p>
          <a:p>
            <a:pPr>
              <a:spcAft>
                <a:spcPts val="600"/>
              </a:spcAft>
              <a:defRPr sz="1700"/>
            </a:pPr>
            <a:r>
              <a:rPr dirty="0"/>
              <a:t>   ↓</a:t>
            </a:r>
          </a:p>
          <a:p>
            <a:pPr>
              <a:spcAft>
                <a:spcPts val="600"/>
              </a:spcAft>
              <a:defRPr sz="1700"/>
            </a:pPr>
            <a:r>
              <a:rPr dirty="0"/>
              <a:t>Answer</a:t>
            </a:r>
          </a:p>
          <a:p>
            <a:pPr>
              <a:spcAft>
                <a:spcPts val="600"/>
              </a:spcAft>
              <a:defRPr sz="1700"/>
            </a:pPr>
            <a:endParaRPr dirty="0"/>
          </a:p>
          <a:p>
            <a:pPr>
              <a:spcAft>
                <a:spcPts val="600"/>
              </a:spcAft>
              <a:defRPr sz="1700"/>
            </a:pPr>
            <a:r>
              <a:rPr dirty="0"/>
              <a:t>That's the fundamental difference.</a:t>
            </a:r>
          </a:p>
        </p:txBody>
      </p:sp>
      <p:sp>
        <p:nvSpPr>
          <p:cNvPr id="4" name="Rectangle 3"/>
          <p:cNvSpPr/>
          <p:nvPr/>
        </p:nvSpPr>
        <p:spPr>
          <a:xfrm>
            <a:off x="502920" y="6565392"/>
            <a:ext cx="11155680" cy="13716"/>
          </a:xfrm>
          <a:prstGeom prst="rect">
            <a:avLst/>
          </a:prstGeom>
          <a:solidFill>
            <a:srgbClr val="D2D6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0607040" y="6601968"/>
            <a:ext cx="1005840" cy="182880"/>
          </a:xfrm>
          <a:prstGeom prst="rect">
            <a:avLst/>
          </a:prstGeom>
          <a:noFill/>
        </p:spPr>
        <p:txBody>
          <a:bodyPr wrap="none">
            <a:spAutoFit/>
          </a:bodyPr>
          <a:lstStyle/>
          <a:p>
            <a:pPr algn="r">
              <a:defRPr sz="900"/>
            </a:pPr>
            <a:r>
              <a:t>49</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2920" y="228600"/>
            <a:ext cx="11155680" cy="594360"/>
          </a:xfrm>
          <a:prstGeom prst="rect">
            <a:avLst/>
          </a:prstGeom>
          <a:noFill/>
        </p:spPr>
        <p:txBody>
          <a:bodyPr wrap="none">
            <a:spAutoFit/>
          </a:bodyPr>
          <a:lstStyle/>
          <a:p>
            <a:pPr>
              <a:defRPr sz="2800" b="1"/>
            </a:pPr>
            <a:r>
              <a:t>37. The Whole Concept Using One Example</a:t>
            </a:r>
          </a:p>
        </p:txBody>
      </p:sp>
      <p:sp>
        <p:nvSpPr>
          <p:cNvPr id="3" name="TextBox 2"/>
          <p:cNvSpPr txBox="1"/>
          <p:nvPr/>
        </p:nvSpPr>
        <p:spPr>
          <a:xfrm>
            <a:off x="594360" y="1051560"/>
            <a:ext cx="10972800" cy="5303520"/>
          </a:xfrm>
          <a:prstGeom prst="rect">
            <a:avLst/>
          </a:prstGeom>
          <a:noFill/>
        </p:spPr>
        <p:txBody>
          <a:bodyPr wrap="square">
            <a:normAutofit/>
          </a:bodyPr>
          <a:lstStyle/>
          <a:p>
            <a:pPr>
              <a:spcAft>
                <a:spcPts val="600"/>
              </a:spcAft>
              <a:defRPr sz="1700"/>
            </a:pPr>
            <a:r>
              <a:t>Let's create a simple company chatbot.</a:t>
            </a:r>
          </a:p>
          <a:p>
            <a:pPr>
              <a:spcAft>
                <a:spcPts val="600"/>
              </a:spcAft>
              <a:defRPr sz="1700"/>
            </a:pPr>
            <a:endParaRPr/>
          </a:p>
          <a:p>
            <a:pPr>
              <a:spcAft>
                <a:spcPts val="600"/>
              </a:spcAft>
              <a:defRPr sz="1700"/>
            </a:pPr>
            <a:r>
              <a:t>Company has:</a:t>
            </a:r>
          </a:p>
          <a:p>
            <a:pPr>
              <a:spcAft>
                <a:spcPts val="600"/>
              </a:spcAft>
              <a:defRPr sz="1700"/>
            </a:pPr>
            <a:r>
              <a:t>HR Policy PDF</a:t>
            </a:r>
          </a:p>
          <a:p>
            <a:pPr>
              <a:spcAft>
                <a:spcPts val="600"/>
              </a:spcAft>
              <a:defRPr sz="1700"/>
            </a:pPr>
            <a:endParaRPr/>
          </a:p>
          <a:p>
            <a:pPr>
              <a:spcAft>
                <a:spcPts val="600"/>
              </a:spcAft>
              <a:defRPr sz="1700"/>
            </a:pPr>
            <a:r>
              <a:t>Inside it:</a:t>
            </a:r>
          </a:p>
          <a:p>
            <a:pPr>
              <a:spcAft>
                <a:spcPts val="600"/>
              </a:spcAft>
              <a:defRPr sz="1700"/>
            </a:pPr>
            <a:r>
              <a:t>Annual Leave:</a:t>
            </a:r>
          </a:p>
          <a:p>
            <a:pPr>
              <a:spcAft>
                <a:spcPts val="600"/>
              </a:spcAft>
              <a:defRPr sz="1700"/>
            </a:pPr>
            <a:r>
              <a:t>Employees receive 20 days of annual leave.</a:t>
            </a:r>
          </a:p>
          <a:p>
            <a:pPr>
              <a:spcAft>
                <a:spcPts val="600"/>
              </a:spcAft>
              <a:defRPr sz="1700"/>
            </a:pPr>
            <a:endParaRPr/>
          </a:p>
          <a:p>
            <a:pPr>
              <a:spcAft>
                <a:spcPts val="600"/>
              </a:spcAft>
              <a:defRPr sz="1700"/>
            </a:pPr>
            <a:r>
              <a:t>Sick Leave:</a:t>
            </a:r>
          </a:p>
          <a:p>
            <a:pPr>
              <a:spcAft>
                <a:spcPts val="600"/>
              </a:spcAft>
              <a:defRPr sz="1700"/>
            </a:pPr>
            <a:r>
              <a:t>Employees receive 10 days of sick leave.</a:t>
            </a:r>
          </a:p>
          <a:p>
            <a:pPr>
              <a:spcAft>
                <a:spcPts val="600"/>
              </a:spcAft>
              <a:defRPr sz="1700"/>
            </a:pPr>
            <a:endParaRPr/>
          </a:p>
          <a:p>
            <a:pPr>
              <a:spcAft>
                <a:spcPts val="600"/>
              </a:spcAft>
              <a:defRPr sz="1700"/>
            </a:pPr>
            <a:r>
              <a:t>Work From Home:</a:t>
            </a:r>
          </a:p>
          <a:p>
            <a:pPr>
              <a:spcAft>
                <a:spcPts val="600"/>
              </a:spcAft>
              <a:defRPr sz="1700"/>
            </a:pPr>
            <a:r>
              <a:t>Employees can work remotely 2 days per week.</a:t>
            </a:r>
          </a:p>
          <a:p>
            <a:pPr>
              <a:spcAft>
                <a:spcPts val="600"/>
              </a:spcAft>
              <a:defRPr sz="1700"/>
            </a:pPr>
            <a:endParaRPr/>
          </a:p>
          <a:p>
            <a:pPr>
              <a:spcAft>
                <a:spcPts val="600"/>
              </a:spcAft>
              <a:defRPr sz="1700"/>
            </a:pPr>
            <a:r>
              <a:t>User asks:</a:t>
            </a:r>
          </a:p>
          <a:p>
            <a:pPr>
              <a:spcAft>
                <a:spcPts val="600"/>
              </a:spcAft>
              <a:defRPr sz="1700"/>
            </a:pPr>
            <a:r>
              <a:t>"How many days can I work from home?" </a:t>
            </a:r>
          </a:p>
        </p:txBody>
      </p:sp>
      <p:sp>
        <p:nvSpPr>
          <p:cNvPr id="4" name="Rectangle 3"/>
          <p:cNvSpPr/>
          <p:nvPr/>
        </p:nvSpPr>
        <p:spPr>
          <a:xfrm>
            <a:off x="502920" y="6565392"/>
            <a:ext cx="11155680" cy="13716"/>
          </a:xfrm>
          <a:prstGeom prst="rect">
            <a:avLst/>
          </a:prstGeom>
          <a:solidFill>
            <a:srgbClr val="D2D6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0607040" y="6601968"/>
            <a:ext cx="1005840" cy="182880"/>
          </a:xfrm>
          <a:prstGeom prst="rect">
            <a:avLst/>
          </a:prstGeom>
          <a:noFill/>
        </p:spPr>
        <p:txBody>
          <a:bodyPr wrap="none">
            <a:spAutoFit/>
          </a:bodyPr>
          <a:lstStyle/>
          <a:p>
            <a:pPr algn="r">
              <a:defRPr sz="900"/>
            </a:pPr>
            <a:r>
              <a:t>50</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2920" y="228600"/>
            <a:ext cx="11155680" cy="594360"/>
          </a:xfrm>
          <a:prstGeom prst="rect">
            <a:avLst/>
          </a:prstGeom>
          <a:noFill/>
        </p:spPr>
        <p:txBody>
          <a:bodyPr wrap="none">
            <a:spAutoFit/>
          </a:bodyPr>
          <a:lstStyle/>
          <a:p>
            <a:pPr>
              <a:defRPr sz="2800" b="1"/>
            </a:pPr>
            <a:r>
              <a:t>37. Whole Concept — Steps 1–3</a:t>
            </a:r>
          </a:p>
        </p:txBody>
      </p:sp>
      <p:sp>
        <p:nvSpPr>
          <p:cNvPr id="3" name="TextBox 2"/>
          <p:cNvSpPr txBox="1"/>
          <p:nvPr/>
        </p:nvSpPr>
        <p:spPr>
          <a:xfrm>
            <a:off x="594360" y="1051560"/>
            <a:ext cx="10972800" cy="5303520"/>
          </a:xfrm>
          <a:prstGeom prst="rect">
            <a:avLst/>
          </a:prstGeom>
          <a:noFill/>
        </p:spPr>
        <p:txBody>
          <a:bodyPr wrap="square">
            <a:normAutofit fontScale="62500" lnSpcReduction="20000"/>
          </a:bodyPr>
          <a:lstStyle/>
          <a:p>
            <a:pPr>
              <a:spcAft>
                <a:spcPts val="600"/>
              </a:spcAft>
              <a:defRPr sz="1700"/>
            </a:pPr>
            <a:r>
              <a:rPr dirty="0"/>
              <a:t>Step 1 — Chunking</a:t>
            </a:r>
          </a:p>
          <a:p>
            <a:pPr>
              <a:spcAft>
                <a:spcPts val="600"/>
              </a:spcAft>
              <a:defRPr sz="1700"/>
            </a:pPr>
            <a:endParaRPr dirty="0"/>
          </a:p>
          <a:p>
            <a:pPr>
              <a:spcAft>
                <a:spcPts val="600"/>
              </a:spcAft>
              <a:defRPr sz="1700"/>
            </a:pPr>
            <a:r>
              <a:rPr dirty="0"/>
              <a:t>Chunk 1:</a:t>
            </a:r>
          </a:p>
          <a:p>
            <a:pPr>
              <a:spcAft>
                <a:spcPts val="600"/>
              </a:spcAft>
              <a:defRPr sz="1700"/>
            </a:pPr>
            <a:r>
              <a:rPr dirty="0"/>
              <a:t>Annual Leave → 20 days</a:t>
            </a:r>
          </a:p>
          <a:p>
            <a:pPr>
              <a:spcAft>
                <a:spcPts val="600"/>
              </a:spcAft>
              <a:defRPr sz="1700"/>
            </a:pPr>
            <a:endParaRPr dirty="0"/>
          </a:p>
          <a:p>
            <a:pPr>
              <a:spcAft>
                <a:spcPts val="600"/>
              </a:spcAft>
              <a:defRPr sz="1700"/>
            </a:pPr>
            <a:r>
              <a:rPr dirty="0"/>
              <a:t>Chunk 2:</a:t>
            </a:r>
          </a:p>
          <a:p>
            <a:pPr>
              <a:spcAft>
                <a:spcPts val="600"/>
              </a:spcAft>
              <a:defRPr sz="1700"/>
            </a:pPr>
            <a:r>
              <a:rPr dirty="0"/>
              <a:t>Sick Leave → 10 days</a:t>
            </a:r>
          </a:p>
          <a:p>
            <a:pPr>
              <a:spcAft>
                <a:spcPts val="600"/>
              </a:spcAft>
              <a:defRPr sz="1700"/>
            </a:pPr>
            <a:endParaRPr dirty="0"/>
          </a:p>
          <a:p>
            <a:pPr>
              <a:spcAft>
                <a:spcPts val="600"/>
              </a:spcAft>
              <a:defRPr sz="1700"/>
            </a:pPr>
            <a:r>
              <a:rPr dirty="0"/>
              <a:t>Chunk 3:</a:t>
            </a:r>
          </a:p>
          <a:p>
            <a:pPr>
              <a:spcAft>
                <a:spcPts val="600"/>
              </a:spcAft>
              <a:defRPr sz="1700"/>
            </a:pPr>
            <a:r>
              <a:rPr dirty="0"/>
              <a:t>Work From Home → 2 days/week</a:t>
            </a:r>
          </a:p>
          <a:p>
            <a:pPr>
              <a:spcAft>
                <a:spcPts val="600"/>
              </a:spcAft>
              <a:defRPr sz="1700"/>
            </a:pPr>
            <a:endParaRPr dirty="0"/>
          </a:p>
          <a:p>
            <a:pPr>
              <a:spcAft>
                <a:spcPts val="600"/>
              </a:spcAft>
              <a:defRPr sz="1700"/>
            </a:pPr>
            <a:r>
              <a:rPr dirty="0"/>
              <a:t>Step 2 — Embeddings</a:t>
            </a:r>
          </a:p>
          <a:p>
            <a:pPr>
              <a:spcAft>
                <a:spcPts val="600"/>
              </a:spcAft>
              <a:defRPr sz="1700"/>
            </a:pPr>
            <a:endParaRPr dirty="0"/>
          </a:p>
          <a:p>
            <a:pPr>
              <a:spcAft>
                <a:spcPts val="600"/>
              </a:spcAft>
              <a:defRPr sz="1700"/>
            </a:pPr>
            <a:r>
              <a:rPr dirty="0"/>
              <a:t>Each chunk is converted into vectors:</a:t>
            </a:r>
          </a:p>
          <a:p>
            <a:pPr>
              <a:spcAft>
                <a:spcPts val="600"/>
              </a:spcAft>
              <a:defRPr sz="1700"/>
            </a:pPr>
            <a:r>
              <a:rPr dirty="0"/>
              <a:t>Chunk 1 → Vector 1</a:t>
            </a:r>
          </a:p>
          <a:p>
            <a:pPr>
              <a:spcAft>
                <a:spcPts val="600"/>
              </a:spcAft>
              <a:defRPr sz="1700"/>
            </a:pPr>
            <a:r>
              <a:rPr dirty="0"/>
              <a:t>Chunk 2 → Vector 2</a:t>
            </a:r>
          </a:p>
          <a:p>
            <a:pPr>
              <a:spcAft>
                <a:spcPts val="600"/>
              </a:spcAft>
              <a:defRPr sz="1700"/>
            </a:pPr>
            <a:r>
              <a:rPr dirty="0"/>
              <a:t>Chunk 3 → Vector 3</a:t>
            </a:r>
          </a:p>
          <a:p>
            <a:pPr>
              <a:spcAft>
                <a:spcPts val="600"/>
              </a:spcAft>
              <a:defRPr sz="1700"/>
            </a:pPr>
            <a:r>
              <a:rPr dirty="0"/>
              <a:t>Step 3 — Store</a:t>
            </a:r>
          </a:p>
          <a:p>
            <a:pPr>
              <a:spcAft>
                <a:spcPts val="600"/>
              </a:spcAft>
              <a:defRPr sz="1700"/>
            </a:pPr>
            <a:endParaRPr dirty="0"/>
          </a:p>
          <a:p>
            <a:pPr>
              <a:spcAft>
                <a:spcPts val="600"/>
              </a:spcAft>
              <a:defRPr sz="1700"/>
            </a:pPr>
            <a:r>
              <a:rPr dirty="0"/>
              <a:t>Vector Database</a:t>
            </a:r>
          </a:p>
          <a:p>
            <a:pPr>
              <a:spcAft>
                <a:spcPts val="600"/>
              </a:spcAft>
              <a:defRPr sz="1700"/>
            </a:pPr>
            <a:endParaRPr dirty="0"/>
          </a:p>
          <a:p>
            <a:pPr>
              <a:spcAft>
                <a:spcPts val="600"/>
              </a:spcAft>
              <a:defRPr sz="1700"/>
            </a:pPr>
            <a:r>
              <a:rPr dirty="0"/>
              <a:t>Vector 1 → Annual Leave</a:t>
            </a:r>
          </a:p>
          <a:p>
            <a:pPr>
              <a:spcAft>
                <a:spcPts val="600"/>
              </a:spcAft>
              <a:defRPr sz="1700"/>
            </a:pPr>
            <a:r>
              <a:rPr dirty="0"/>
              <a:t>Vector 2 → Sick Leave</a:t>
            </a:r>
          </a:p>
          <a:p>
            <a:pPr>
              <a:spcAft>
                <a:spcPts val="600"/>
              </a:spcAft>
              <a:defRPr sz="1700"/>
            </a:pPr>
            <a:r>
              <a:rPr dirty="0"/>
              <a:t>Vector 3 → WFH</a:t>
            </a:r>
          </a:p>
        </p:txBody>
      </p:sp>
      <p:sp>
        <p:nvSpPr>
          <p:cNvPr id="4" name="Rectangle 3"/>
          <p:cNvSpPr/>
          <p:nvPr/>
        </p:nvSpPr>
        <p:spPr>
          <a:xfrm>
            <a:off x="502920" y="6565392"/>
            <a:ext cx="11155680" cy="13716"/>
          </a:xfrm>
          <a:prstGeom prst="rect">
            <a:avLst/>
          </a:prstGeom>
          <a:solidFill>
            <a:srgbClr val="D2D6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0607040" y="6601968"/>
            <a:ext cx="1005840" cy="182880"/>
          </a:xfrm>
          <a:prstGeom prst="rect">
            <a:avLst/>
          </a:prstGeom>
          <a:noFill/>
        </p:spPr>
        <p:txBody>
          <a:bodyPr wrap="none">
            <a:spAutoFit/>
          </a:bodyPr>
          <a:lstStyle/>
          <a:p>
            <a:pPr algn="r">
              <a:defRPr sz="900"/>
            </a:pPr>
            <a:r>
              <a:t>51</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2920" y="228600"/>
            <a:ext cx="11155680" cy="594360"/>
          </a:xfrm>
          <a:prstGeom prst="rect">
            <a:avLst/>
          </a:prstGeom>
          <a:noFill/>
        </p:spPr>
        <p:txBody>
          <a:bodyPr wrap="none">
            <a:spAutoFit/>
          </a:bodyPr>
          <a:lstStyle/>
          <a:p>
            <a:pPr>
              <a:defRPr sz="2800" b="1"/>
            </a:pPr>
            <a:r>
              <a:t>37. Whole Concept — Steps 4–8</a:t>
            </a:r>
          </a:p>
        </p:txBody>
      </p:sp>
      <p:sp>
        <p:nvSpPr>
          <p:cNvPr id="3" name="TextBox 2"/>
          <p:cNvSpPr txBox="1"/>
          <p:nvPr/>
        </p:nvSpPr>
        <p:spPr>
          <a:xfrm>
            <a:off x="594360" y="1051560"/>
            <a:ext cx="10972800" cy="5303520"/>
          </a:xfrm>
          <a:prstGeom prst="rect">
            <a:avLst/>
          </a:prstGeom>
          <a:noFill/>
        </p:spPr>
        <p:txBody>
          <a:bodyPr wrap="square">
            <a:normAutofit fontScale="55000" lnSpcReduction="20000"/>
          </a:bodyPr>
          <a:lstStyle/>
          <a:p>
            <a:pPr>
              <a:spcAft>
                <a:spcPts val="600"/>
              </a:spcAft>
              <a:defRPr sz="1700"/>
            </a:pPr>
            <a:r>
              <a:rPr dirty="0"/>
              <a:t>Step 4 — User asks</a:t>
            </a:r>
          </a:p>
          <a:p>
            <a:pPr>
              <a:spcAft>
                <a:spcPts val="600"/>
              </a:spcAft>
              <a:defRPr sz="1700"/>
            </a:pPr>
            <a:r>
              <a:rPr dirty="0"/>
              <a:t>"How many days can I work from home?"</a:t>
            </a:r>
          </a:p>
          <a:p>
            <a:pPr>
              <a:spcAft>
                <a:spcPts val="600"/>
              </a:spcAft>
              <a:defRPr sz="1700"/>
            </a:pPr>
            <a:endParaRPr dirty="0"/>
          </a:p>
          <a:p>
            <a:pPr>
              <a:spcAft>
                <a:spcPts val="600"/>
              </a:spcAft>
              <a:defRPr sz="1700"/>
            </a:pPr>
            <a:r>
              <a:rPr dirty="0"/>
              <a:t>Step 5 — Query embedding</a:t>
            </a:r>
          </a:p>
          <a:p>
            <a:pPr>
              <a:spcAft>
                <a:spcPts val="600"/>
              </a:spcAft>
              <a:defRPr sz="1700"/>
            </a:pPr>
            <a:r>
              <a:rPr dirty="0"/>
              <a:t>Question</a:t>
            </a:r>
          </a:p>
          <a:p>
            <a:pPr>
              <a:spcAft>
                <a:spcPts val="600"/>
              </a:spcAft>
              <a:defRPr sz="1700"/>
            </a:pPr>
            <a:r>
              <a:rPr dirty="0"/>
              <a:t>   ↓</a:t>
            </a:r>
          </a:p>
          <a:p>
            <a:pPr>
              <a:spcAft>
                <a:spcPts val="600"/>
              </a:spcAft>
              <a:defRPr sz="1700"/>
            </a:pPr>
            <a:r>
              <a:rPr dirty="0"/>
              <a:t>Embedding Model</a:t>
            </a:r>
          </a:p>
          <a:p>
            <a:pPr>
              <a:spcAft>
                <a:spcPts val="600"/>
              </a:spcAft>
              <a:defRPr sz="1700"/>
            </a:pPr>
            <a:r>
              <a:rPr dirty="0"/>
              <a:t>   ↓</a:t>
            </a:r>
          </a:p>
          <a:p>
            <a:pPr>
              <a:spcAft>
                <a:spcPts val="600"/>
              </a:spcAft>
              <a:defRPr sz="1700"/>
            </a:pPr>
            <a:r>
              <a:rPr dirty="0"/>
              <a:t>Query Vector</a:t>
            </a:r>
          </a:p>
          <a:p>
            <a:pPr>
              <a:spcAft>
                <a:spcPts val="600"/>
              </a:spcAft>
              <a:defRPr sz="1700"/>
            </a:pPr>
            <a:endParaRPr dirty="0"/>
          </a:p>
          <a:p>
            <a:pPr>
              <a:spcAft>
                <a:spcPts val="600"/>
              </a:spcAft>
              <a:defRPr sz="1700"/>
            </a:pPr>
            <a:r>
              <a:rPr dirty="0"/>
              <a:t>Step 6 — Similarity search</a:t>
            </a:r>
          </a:p>
          <a:p>
            <a:pPr>
              <a:spcAft>
                <a:spcPts val="600"/>
              </a:spcAft>
              <a:defRPr sz="1700"/>
            </a:pPr>
            <a:r>
              <a:rPr dirty="0"/>
              <a:t>Vector database finds:</a:t>
            </a:r>
          </a:p>
          <a:p>
            <a:pPr>
              <a:spcAft>
                <a:spcPts val="600"/>
              </a:spcAft>
              <a:defRPr sz="1700"/>
            </a:pPr>
            <a:r>
              <a:rPr dirty="0"/>
              <a:t>Chunk 3 → Work From Home → 2 days/week</a:t>
            </a:r>
          </a:p>
          <a:p>
            <a:pPr>
              <a:spcAft>
                <a:spcPts val="600"/>
              </a:spcAft>
              <a:defRPr sz="1700"/>
            </a:pPr>
            <a:endParaRPr dirty="0"/>
          </a:p>
          <a:p>
            <a:pPr>
              <a:spcAft>
                <a:spcPts val="600"/>
              </a:spcAft>
              <a:defRPr sz="1700"/>
            </a:pPr>
            <a:r>
              <a:rPr dirty="0"/>
              <a:t>Step 7 — Context injection</a:t>
            </a:r>
          </a:p>
          <a:p>
            <a:pPr>
              <a:spcAft>
                <a:spcPts val="600"/>
              </a:spcAft>
              <a:defRPr sz="1700"/>
            </a:pPr>
            <a:r>
              <a:rPr dirty="0"/>
              <a:t>Context:</a:t>
            </a:r>
          </a:p>
          <a:p>
            <a:pPr>
              <a:spcAft>
                <a:spcPts val="600"/>
              </a:spcAft>
              <a:defRPr sz="1700"/>
            </a:pPr>
            <a:r>
              <a:rPr dirty="0"/>
              <a:t>Employees can work remotely 2 days per week.</a:t>
            </a:r>
          </a:p>
          <a:p>
            <a:pPr>
              <a:spcAft>
                <a:spcPts val="600"/>
              </a:spcAft>
              <a:defRPr sz="1700"/>
            </a:pPr>
            <a:r>
              <a:rPr dirty="0"/>
              <a:t>Question:</a:t>
            </a:r>
          </a:p>
          <a:p>
            <a:pPr>
              <a:spcAft>
                <a:spcPts val="600"/>
              </a:spcAft>
              <a:defRPr sz="1700"/>
            </a:pPr>
            <a:r>
              <a:rPr dirty="0"/>
              <a:t>How many days can I work from home?</a:t>
            </a:r>
          </a:p>
          <a:p>
            <a:pPr>
              <a:spcAft>
                <a:spcPts val="600"/>
              </a:spcAft>
              <a:defRPr sz="1700"/>
            </a:pPr>
            <a:endParaRPr dirty="0"/>
          </a:p>
          <a:p>
            <a:pPr>
              <a:spcAft>
                <a:spcPts val="600"/>
              </a:spcAft>
              <a:defRPr sz="1700"/>
            </a:pPr>
            <a:r>
              <a:rPr dirty="0"/>
              <a:t>Step 8 — LLM</a:t>
            </a:r>
          </a:p>
          <a:p>
            <a:pPr>
              <a:spcAft>
                <a:spcPts val="600"/>
              </a:spcAft>
              <a:defRPr sz="1700"/>
            </a:pPr>
            <a:r>
              <a:rPr dirty="0"/>
              <a:t>LLM</a:t>
            </a:r>
          </a:p>
          <a:p>
            <a:pPr>
              <a:spcAft>
                <a:spcPts val="600"/>
              </a:spcAft>
              <a:defRPr sz="1700"/>
            </a:pPr>
            <a:r>
              <a:rPr dirty="0"/>
              <a:t> ↓</a:t>
            </a:r>
          </a:p>
          <a:p>
            <a:pPr>
              <a:spcAft>
                <a:spcPts val="600"/>
              </a:spcAft>
              <a:defRPr sz="1700"/>
            </a:pPr>
            <a:r>
              <a:rPr dirty="0"/>
              <a:t>"Employees can work from home 2 days per week."</a:t>
            </a:r>
          </a:p>
          <a:p>
            <a:pPr>
              <a:spcAft>
                <a:spcPts val="600"/>
              </a:spcAft>
              <a:defRPr sz="1700"/>
            </a:pPr>
            <a:endParaRPr dirty="0"/>
          </a:p>
          <a:p>
            <a:pPr>
              <a:spcAft>
                <a:spcPts val="600"/>
              </a:spcAft>
              <a:defRPr sz="1700"/>
            </a:pPr>
            <a:r>
              <a:rPr dirty="0"/>
              <a:t>That's RAG.</a:t>
            </a:r>
          </a:p>
        </p:txBody>
      </p:sp>
      <p:sp>
        <p:nvSpPr>
          <p:cNvPr id="4" name="Rectangle 3"/>
          <p:cNvSpPr/>
          <p:nvPr/>
        </p:nvSpPr>
        <p:spPr>
          <a:xfrm>
            <a:off x="502920" y="6565392"/>
            <a:ext cx="11155680" cy="13716"/>
          </a:xfrm>
          <a:prstGeom prst="rect">
            <a:avLst/>
          </a:prstGeom>
          <a:solidFill>
            <a:srgbClr val="D2D6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0607040" y="6601968"/>
            <a:ext cx="1005840" cy="182880"/>
          </a:xfrm>
          <a:prstGeom prst="rect">
            <a:avLst/>
          </a:prstGeom>
          <a:noFill/>
        </p:spPr>
        <p:txBody>
          <a:bodyPr wrap="none">
            <a:spAutoFit/>
          </a:bodyPr>
          <a:lstStyle/>
          <a:p>
            <a:pPr algn="r">
              <a:defRPr sz="900"/>
            </a:pPr>
            <a:r>
              <a:t>52</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2920" y="228600"/>
            <a:ext cx="11155680" cy="594360"/>
          </a:xfrm>
          <a:prstGeom prst="rect">
            <a:avLst/>
          </a:prstGeom>
          <a:noFill/>
        </p:spPr>
        <p:txBody>
          <a:bodyPr wrap="none">
            <a:spAutoFit/>
          </a:bodyPr>
          <a:lstStyle/>
          <a:p>
            <a:pPr>
              <a:defRPr sz="2800" b="1"/>
            </a:pPr>
            <a:r>
              <a:t>38. One Important Mental Model for Students — Library Analogy</a:t>
            </a:r>
          </a:p>
        </p:txBody>
      </p:sp>
      <p:sp>
        <p:nvSpPr>
          <p:cNvPr id="3" name="TextBox 2"/>
          <p:cNvSpPr txBox="1"/>
          <p:nvPr/>
        </p:nvSpPr>
        <p:spPr>
          <a:xfrm>
            <a:off x="594360" y="1051560"/>
            <a:ext cx="10972800" cy="5303520"/>
          </a:xfrm>
          <a:prstGeom prst="rect">
            <a:avLst/>
          </a:prstGeom>
          <a:noFill/>
        </p:spPr>
        <p:txBody>
          <a:bodyPr wrap="square">
            <a:normAutofit fontScale="55000" lnSpcReduction="20000"/>
          </a:bodyPr>
          <a:lstStyle/>
          <a:p>
            <a:pPr>
              <a:spcAft>
                <a:spcPts val="600"/>
              </a:spcAft>
              <a:defRPr sz="1700"/>
            </a:pPr>
            <a:r>
              <a:rPr dirty="0"/>
              <a:t>Imagine a huge library.</a:t>
            </a:r>
          </a:p>
          <a:p>
            <a:pPr>
              <a:spcAft>
                <a:spcPts val="600"/>
              </a:spcAft>
              <a:defRPr sz="1700"/>
            </a:pPr>
            <a:endParaRPr dirty="0"/>
          </a:p>
          <a:p>
            <a:pPr>
              <a:spcAft>
                <a:spcPts val="600"/>
              </a:spcAft>
              <a:defRPr sz="1700"/>
            </a:pPr>
            <a:r>
              <a:rPr dirty="0"/>
              <a:t>Documents</a:t>
            </a:r>
          </a:p>
          <a:p>
            <a:pPr>
              <a:spcAft>
                <a:spcPts val="600"/>
              </a:spcAft>
              <a:defRPr sz="1700"/>
            </a:pPr>
            <a:r>
              <a:rPr dirty="0"/>
              <a:t>Books</a:t>
            </a:r>
          </a:p>
          <a:p>
            <a:pPr>
              <a:spcAft>
                <a:spcPts val="600"/>
              </a:spcAft>
              <a:defRPr sz="1700"/>
            </a:pPr>
            <a:endParaRPr dirty="0"/>
          </a:p>
          <a:p>
            <a:pPr>
              <a:spcAft>
                <a:spcPts val="600"/>
              </a:spcAft>
              <a:defRPr sz="1700"/>
            </a:pPr>
            <a:r>
              <a:rPr dirty="0"/>
              <a:t>Chunking</a:t>
            </a:r>
          </a:p>
          <a:p>
            <a:pPr>
              <a:spcAft>
                <a:spcPts val="600"/>
              </a:spcAft>
              <a:defRPr sz="1700"/>
            </a:pPr>
            <a:r>
              <a:rPr dirty="0"/>
              <a:t>Divide books into useful sections</a:t>
            </a:r>
          </a:p>
          <a:p>
            <a:pPr>
              <a:spcAft>
                <a:spcPts val="600"/>
              </a:spcAft>
              <a:defRPr sz="1700"/>
            </a:pPr>
            <a:endParaRPr dirty="0"/>
          </a:p>
          <a:p>
            <a:pPr>
              <a:spcAft>
                <a:spcPts val="600"/>
              </a:spcAft>
              <a:defRPr sz="1700"/>
            </a:pPr>
            <a:r>
              <a:rPr dirty="0"/>
              <a:t>Embeddings</a:t>
            </a:r>
          </a:p>
          <a:p>
            <a:pPr>
              <a:spcAft>
                <a:spcPts val="600"/>
              </a:spcAft>
              <a:defRPr sz="1700"/>
            </a:pPr>
            <a:r>
              <a:rPr dirty="0"/>
              <a:t>Give each section a meaning-based numerical representation</a:t>
            </a:r>
          </a:p>
          <a:p>
            <a:pPr>
              <a:spcAft>
                <a:spcPts val="600"/>
              </a:spcAft>
              <a:defRPr sz="1700"/>
            </a:pPr>
            <a:endParaRPr dirty="0"/>
          </a:p>
          <a:p>
            <a:pPr>
              <a:spcAft>
                <a:spcPts val="600"/>
              </a:spcAft>
              <a:defRPr sz="1700"/>
            </a:pPr>
            <a:r>
              <a:rPr dirty="0"/>
              <a:t>Vector Database</a:t>
            </a:r>
          </a:p>
          <a:p>
            <a:pPr>
              <a:spcAft>
                <a:spcPts val="600"/>
              </a:spcAft>
              <a:defRPr sz="1700"/>
            </a:pPr>
            <a:r>
              <a:rPr dirty="0"/>
              <a:t>Organized digital library</a:t>
            </a:r>
          </a:p>
          <a:p>
            <a:pPr>
              <a:spcAft>
                <a:spcPts val="600"/>
              </a:spcAft>
              <a:defRPr sz="1700"/>
            </a:pPr>
            <a:endParaRPr dirty="0"/>
          </a:p>
          <a:p>
            <a:pPr>
              <a:spcAft>
                <a:spcPts val="600"/>
              </a:spcAft>
              <a:defRPr sz="1700"/>
            </a:pPr>
            <a:r>
              <a:rPr dirty="0"/>
              <a:t>Retriever</a:t>
            </a:r>
          </a:p>
          <a:p>
            <a:pPr>
              <a:spcAft>
                <a:spcPts val="600"/>
              </a:spcAft>
              <a:defRPr sz="1700"/>
            </a:pPr>
            <a:r>
              <a:rPr dirty="0"/>
              <a:t>Librarian</a:t>
            </a:r>
          </a:p>
          <a:p>
            <a:pPr>
              <a:spcAft>
                <a:spcPts val="600"/>
              </a:spcAft>
              <a:defRPr sz="1700"/>
            </a:pPr>
            <a:r>
              <a:rPr dirty="0"/>
              <a:t>User question</a:t>
            </a:r>
          </a:p>
          <a:p>
            <a:pPr>
              <a:spcAft>
                <a:spcPts val="600"/>
              </a:spcAft>
              <a:defRPr sz="1700"/>
            </a:pPr>
            <a:r>
              <a:rPr dirty="0"/>
              <a:t>"What is the leave policy?"</a:t>
            </a:r>
          </a:p>
          <a:p>
            <a:pPr>
              <a:spcAft>
                <a:spcPts val="600"/>
              </a:spcAft>
              <a:defRPr sz="1700"/>
            </a:pPr>
            <a:endParaRPr dirty="0"/>
          </a:p>
          <a:p>
            <a:pPr>
              <a:spcAft>
                <a:spcPts val="600"/>
              </a:spcAft>
              <a:defRPr sz="1700"/>
            </a:pPr>
            <a:r>
              <a:rPr dirty="0"/>
              <a:t>Retriever</a:t>
            </a:r>
          </a:p>
          <a:p>
            <a:pPr>
              <a:spcAft>
                <a:spcPts val="600"/>
              </a:spcAft>
              <a:defRPr sz="1700"/>
            </a:pPr>
            <a:r>
              <a:rPr dirty="0"/>
              <a:t>Finds the relevant pages</a:t>
            </a:r>
          </a:p>
          <a:p>
            <a:pPr>
              <a:spcAft>
                <a:spcPts val="600"/>
              </a:spcAft>
              <a:defRPr sz="1700"/>
            </a:pPr>
            <a:endParaRPr dirty="0"/>
          </a:p>
          <a:p>
            <a:pPr>
              <a:spcAft>
                <a:spcPts val="600"/>
              </a:spcAft>
              <a:defRPr sz="1700"/>
            </a:pPr>
            <a:r>
              <a:rPr dirty="0"/>
              <a:t>Context</a:t>
            </a:r>
          </a:p>
          <a:p>
            <a:pPr>
              <a:spcAft>
                <a:spcPts val="600"/>
              </a:spcAft>
              <a:defRPr sz="1700"/>
            </a:pPr>
            <a:r>
              <a:rPr dirty="0"/>
              <a:t>Relevant pages</a:t>
            </a:r>
          </a:p>
          <a:p>
            <a:pPr>
              <a:spcAft>
                <a:spcPts val="600"/>
              </a:spcAft>
              <a:defRPr sz="1700"/>
            </a:pPr>
            <a:endParaRPr dirty="0"/>
          </a:p>
          <a:p>
            <a:pPr>
              <a:spcAft>
                <a:spcPts val="600"/>
              </a:spcAft>
              <a:defRPr sz="1700"/>
            </a:pPr>
            <a:r>
              <a:rPr dirty="0"/>
              <a:t>LLM</a:t>
            </a:r>
          </a:p>
          <a:p>
            <a:pPr>
              <a:spcAft>
                <a:spcPts val="600"/>
              </a:spcAft>
              <a:defRPr sz="1700"/>
            </a:pPr>
            <a:r>
              <a:rPr dirty="0"/>
              <a:t>Expert who reads those pages and explains the answer</a:t>
            </a:r>
          </a:p>
        </p:txBody>
      </p:sp>
      <p:sp>
        <p:nvSpPr>
          <p:cNvPr id="4" name="Rectangle 3"/>
          <p:cNvSpPr/>
          <p:nvPr/>
        </p:nvSpPr>
        <p:spPr>
          <a:xfrm>
            <a:off x="502920" y="6565392"/>
            <a:ext cx="11155680" cy="13716"/>
          </a:xfrm>
          <a:prstGeom prst="rect">
            <a:avLst/>
          </a:prstGeom>
          <a:solidFill>
            <a:srgbClr val="D2D6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0607040" y="6601968"/>
            <a:ext cx="1005840" cy="182880"/>
          </a:xfrm>
          <a:prstGeom prst="rect">
            <a:avLst/>
          </a:prstGeom>
          <a:noFill/>
        </p:spPr>
        <p:txBody>
          <a:bodyPr wrap="none">
            <a:spAutoFit/>
          </a:bodyPr>
          <a:lstStyle/>
          <a:p>
            <a:pPr algn="r">
              <a:defRPr sz="900"/>
            </a:pPr>
            <a:r>
              <a:t>53</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2920" y="228600"/>
            <a:ext cx="11155680" cy="594360"/>
          </a:xfrm>
          <a:prstGeom prst="rect">
            <a:avLst/>
          </a:prstGeom>
          <a:noFill/>
        </p:spPr>
        <p:txBody>
          <a:bodyPr wrap="none">
            <a:spAutoFit/>
          </a:bodyPr>
          <a:lstStyle/>
          <a:p>
            <a:pPr>
              <a:defRPr sz="2800" b="1"/>
            </a:pPr>
            <a:r>
              <a:t>39. The Most Important Difference — Table</a:t>
            </a:r>
          </a:p>
        </p:txBody>
      </p:sp>
      <p:graphicFrame>
        <p:nvGraphicFramePr>
          <p:cNvPr id="3" name="Table 2"/>
          <p:cNvGraphicFramePr>
            <a:graphicFrameLocks noGrp="1"/>
          </p:cNvGraphicFramePr>
          <p:nvPr/>
        </p:nvGraphicFramePr>
        <p:xfrm>
          <a:off x="640080" y="1097280"/>
          <a:ext cx="10881360" cy="5212080"/>
        </p:xfrm>
        <a:graphic>
          <a:graphicData uri="http://schemas.openxmlformats.org/drawingml/2006/table">
            <a:tbl>
              <a:tblPr firstRow="1" bandRow="1">
                <a:tableStyleId>{5C22544A-7EE6-4342-B048-85BDC9FD1C3A}</a:tableStyleId>
              </a:tblPr>
              <a:tblGrid>
                <a:gridCol w="2743200">
                  <a:extLst>
                    <a:ext uri="{9D8B030D-6E8A-4147-A177-3AD203B41FA5}">
                      <a16:colId xmlns:a16="http://schemas.microsoft.com/office/drawing/2014/main" val="20000"/>
                    </a:ext>
                  </a:extLst>
                </a:gridCol>
                <a:gridCol w="8138160">
                  <a:extLst>
                    <a:ext uri="{9D8B030D-6E8A-4147-A177-3AD203B41FA5}">
                      <a16:colId xmlns:a16="http://schemas.microsoft.com/office/drawing/2014/main" val="20001"/>
                    </a:ext>
                  </a:extLst>
                </a:gridCol>
              </a:tblGrid>
              <a:tr h="579120">
                <a:tc>
                  <a:txBody>
                    <a:bodyPr/>
                    <a:lstStyle/>
                    <a:p>
                      <a:pPr>
                        <a:defRPr sz="1700" b="1"/>
                      </a:pPr>
                      <a:r>
                        <a:t>Concept</a:t>
                      </a:r>
                    </a:p>
                  </a:txBody>
                  <a:tcPr>
                    <a:solidFill>
                      <a:srgbClr val="E1E6EE"/>
                    </a:solidFill>
                  </a:tcPr>
                </a:tc>
                <a:tc>
                  <a:txBody>
                    <a:bodyPr/>
                    <a:lstStyle/>
                    <a:p>
                      <a:pPr>
                        <a:defRPr sz="1700" b="1"/>
                      </a:pPr>
                      <a:r>
                        <a:t>Main Job</a:t>
                      </a:r>
                    </a:p>
                  </a:txBody>
                  <a:tcPr>
                    <a:solidFill>
                      <a:srgbClr val="E1E6EE"/>
                    </a:solidFill>
                  </a:tcPr>
                </a:tc>
                <a:extLst>
                  <a:ext uri="{0D108BD9-81ED-4DB2-BD59-A6C34878D82A}">
                    <a16:rowId xmlns:a16="http://schemas.microsoft.com/office/drawing/2014/main" val="10000"/>
                  </a:ext>
                </a:extLst>
              </a:tr>
              <a:tr h="579120">
                <a:tc>
                  <a:txBody>
                    <a:bodyPr/>
                    <a:lstStyle/>
                    <a:p>
                      <a:pPr>
                        <a:defRPr sz="1600" b="0"/>
                      </a:pPr>
                      <a:r>
                        <a:t>Chunking</a:t>
                      </a:r>
                    </a:p>
                  </a:txBody>
                  <a:tcPr/>
                </a:tc>
                <a:tc>
                  <a:txBody>
                    <a:bodyPr/>
                    <a:lstStyle/>
                    <a:p>
                      <a:pPr>
                        <a:defRPr sz="1600" b="0"/>
                      </a:pPr>
                      <a:r>
                        <a:t>Break large documents into smaller pieces</a:t>
                      </a:r>
                    </a:p>
                  </a:txBody>
                  <a:tcPr/>
                </a:tc>
                <a:extLst>
                  <a:ext uri="{0D108BD9-81ED-4DB2-BD59-A6C34878D82A}">
                    <a16:rowId xmlns:a16="http://schemas.microsoft.com/office/drawing/2014/main" val="10001"/>
                  </a:ext>
                </a:extLst>
              </a:tr>
              <a:tr h="579120">
                <a:tc>
                  <a:txBody>
                    <a:bodyPr/>
                    <a:lstStyle/>
                    <a:p>
                      <a:pPr>
                        <a:defRPr sz="1600" b="0"/>
                      </a:pPr>
                      <a:r>
                        <a:t>Embedding</a:t>
                      </a:r>
                    </a:p>
                  </a:txBody>
                  <a:tcPr/>
                </a:tc>
                <a:tc>
                  <a:txBody>
                    <a:bodyPr/>
                    <a:lstStyle/>
                    <a:p>
                      <a:pPr>
                        <a:defRPr sz="1600" b="0"/>
                      </a:pPr>
                      <a:r>
                        <a:t>Convert text into numerical vectors</a:t>
                      </a:r>
                    </a:p>
                  </a:txBody>
                  <a:tcPr/>
                </a:tc>
                <a:extLst>
                  <a:ext uri="{0D108BD9-81ED-4DB2-BD59-A6C34878D82A}">
                    <a16:rowId xmlns:a16="http://schemas.microsoft.com/office/drawing/2014/main" val="10002"/>
                  </a:ext>
                </a:extLst>
              </a:tr>
              <a:tr h="579120">
                <a:tc>
                  <a:txBody>
                    <a:bodyPr/>
                    <a:lstStyle/>
                    <a:p>
                      <a:pPr>
                        <a:defRPr sz="1600" b="0"/>
                      </a:pPr>
                      <a:r>
                        <a:rPr dirty="0"/>
                        <a:t>Similarity</a:t>
                      </a:r>
                    </a:p>
                  </a:txBody>
                  <a:tcPr/>
                </a:tc>
                <a:tc>
                  <a:txBody>
                    <a:bodyPr/>
                    <a:lstStyle/>
                    <a:p>
                      <a:pPr>
                        <a:defRPr sz="1600" b="0"/>
                      </a:pPr>
                      <a:r>
                        <a:t>Measure how related vectors are</a:t>
                      </a:r>
                    </a:p>
                  </a:txBody>
                  <a:tcPr/>
                </a:tc>
                <a:extLst>
                  <a:ext uri="{0D108BD9-81ED-4DB2-BD59-A6C34878D82A}">
                    <a16:rowId xmlns:a16="http://schemas.microsoft.com/office/drawing/2014/main" val="10003"/>
                  </a:ext>
                </a:extLst>
              </a:tr>
              <a:tr h="579120">
                <a:tc>
                  <a:txBody>
                    <a:bodyPr/>
                    <a:lstStyle/>
                    <a:p>
                      <a:pPr>
                        <a:defRPr sz="1600" b="0"/>
                      </a:pPr>
                      <a:r>
                        <a:t>Vector DB</a:t>
                      </a:r>
                    </a:p>
                  </a:txBody>
                  <a:tcPr/>
                </a:tc>
                <a:tc>
                  <a:txBody>
                    <a:bodyPr/>
                    <a:lstStyle/>
                    <a:p>
                      <a:pPr>
                        <a:defRPr sz="1600" b="0"/>
                      </a:pPr>
                      <a:r>
                        <a:t>Store/search vectors</a:t>
                      </a:r>
                    </a:p>
                  </a:txBody>
                  <a:tcPr/>
                </a:tc>
                <a:extLst>
                  <a:ext uri="{0D108BD9-81ED-4DB2-BD59-A6C34878D82A}">
                    <a16:rowId xmlns:a16="http://schemas.microsoft.com/office/drawing/2014/main" val="10004"/>
                  </a:ext>
                </a:extLst>
              </a:tr>
              <a:tr h="579120">
                <a:tc>
                  <a:txBody>
                    <a:bodyPr/>
                    <a:lstStyle/>
                    <a:p>
                      <a:pPr>
                        <a:defRPr sz="1600" b="0"/>
                      </a:pPr>
                      <a:r>
                        <a:t>Retriever</a:t>
                      </a:r>
                    </a:p>
                  </a:txBody>
                  <a:tcPr/>
                </a:tc>
                <a:tc>
                  <a:txBody>
                    <a:bodyPr/>
                    <a:lstStyle/>
                    <a:p>
                      <a:pPr>
                        <a:defRPr sz="1600" b="0"/>
                      </a:pPr>
                      <a:r>
                        <a:t>Find relevant chunks</a:t>
                      </a:r>
                    </a:p>
                  </a:txBody>
                  <a:tcPr/>
                </a:tc>
                <a:extLst>
                  <a:ext uri="{0D108BD9-81ED-4DB2-BD59-A6C34878D82A}">
                    <a16:rowId xmlns:a16="http://schemas.microsoft.com/office/drawing/2014/main" val="10005"/>
                  </a:ext>
                </a:extLst>
              </a:tr>
              <a:tr h="579120">
                <a:tc>
                  <a:txBody>
                    <a:bodyPr/>
                    <a:lstStyle/>
                    <a:p>
                      <a:pPr>
                        <a:defRPr sz="1600" b="0"/>
                      </a:pPr>
                      <a:r>
                        <a:t>Context</a:t>
                      </a:r>
                    </a:p>
                  </a:txBody>
                  <a:tcPr/>
                </a:tc>
                <a:tc>
                  <a:txBody>
                    <a:bodyPr/>
                    <a:lstStyle/>
                    <a:p>
                      <a:pPr>
                        <a:defRPr sz="1600" b="0"/>
                      </a:pPr>
                      <a:r>
                        <a:t>Retrieved information</a:t>
                      </a:r>
                    </a:p>
                  </a:txBody>
                  <a:tcPr/>
                </a:tc>
                <a:extLst>
                  <a:ext uri="{0D108BD9-81ED-4DB2-BD59-A6C34878D82A}">
                    <a16:rowId xmlns:a16="http://schemas.microsoft.com/office/drawing/2014/main" val="10006"/>
                  </a:ext>
                </a:extLst>
              </a:tr>
              <a:tr h="579120">
                <a:tc>
                  <a:txBody>
                    <a:bodyPr/>
                    <a:lstStyle/>
                    <a:p>
                      <a:pPr>
                        <a:defRPr sz="1600" b="0"/>
                      </a:pPr>
                      <a:r>
                        <a:t>LLM</a:t>
                      </a:r>
                    </a:p>
                  </a:txBody>
                  <a:tcPr/>
                </a:tc>
                <a:tc>
                  <a:txBody>
                    <a:bodyPr/>
                    <a:lstStyle/>
                    <a:p>
                      <a:pPr>
                        <a:defRPr sz="1600" b="0"/>
                      </a:pPr>
                      <a:r>
                        <a:t>Generate final answer</a:t>
                      </a:r>
                    </a:p>
                  </a:txBody>
                  <a:tcPr/>
                </a:tc>
                <a:extLst>
                  <a:ext uri="{0D108BD9-81ED-4DB2-BD59-A6C34878D82A}">
                    <a16:rowId xmlns:a16="http://schemas.microsoft.com/office/drawing/2014/main" val="10007"/>
                  </a:ext>
                </a:extLst>
              </a:tr>
              <a:tr h="579120">
                <a:tc>
                  <a:txBody>
                    <a:bodyPr/>
                    <a:lstStyle/>
                    <a:p>
                      <a:pPr>
                        <a:defRPr sz="1600" b="0"/>
                      </a:pPr>
                      <a:r>
                        <a:t>RAG</a:t>
                      </a:r>
                    </a:p>
                  </a:txBody>
                  <a:tcPr/>
                </a:tc>
                <a:tc>
                  <a:txBody>
                    <a:bodyPr/>
                    <a:lstStyle/>
                    <a:p>
                      <a:pPr>
                        <a:defRPr sz="1600" b="0"/>
                      </a:pPr>
                      <a:r>
                        <a:rPr dirty="0"/>
                        <a:t>Complete retrieval + generation process</a:t>
                      </a:r>
                    </a:p>
                  </a:txBody>
                  <a:tcPr/>
                </a:tc>
                <a:extLst>
                  <a:ext uri="{0D108BD9-81ED-4DB2-BD59-A6C34878D82A}">
                    <a16:rowId xmlns:a16="http://schemas.microsoft.com/office/drawing/2014/main" val="10008"/>
                  </a:ext>
                </a:extLst>
              </a:tr>
            </a:tbl>
          </a:graphicData>
        </a:graphic>
      </p:graphicFrame>
      <p:sp>
        <p:nvSpPr>
          <p:cNvPr id="4" name="Rectangle 3"/>
          <p:cNvSpPr/>
          <p:nvPr/>
        </p:nvSpPr>
        <p:spPr>
          <a:xfrm>
            <a:off x="502920" y="6565392"/>
            <a:ext cx="11155680" cy="13716"/>
          </a:xfrm>
          <a:prstGeom prst="rect">
            <a:avLst/>
          </a:prstGeom>
          <a:solidFill>
            <a:srgbClr val="D2D6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0607040" y="6601968"/>
            <a:ext cx="1005840" cy="182880"/>
          </a:xfrm>
          <a:prstGeom prst="rect">
            <a:avLst/>
          </a:prstGeom>
          <a:noFill/>
        </p:spPr>
        <p:txBody>
          <a:bodyPr wrap="none">
            <a:spAutoFit/>
          </a:bodyPr>
          <a:lstStyle/>
          <a:p>
            <a:pPr algn="r">
              <a:defRPr sz="900"/>
            </a:pPr>
            <a:r>
              <a:t>56</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2920" y="228600"/>
            <a:ext cx="11155680" cy="594360"/>
          </a:xfrm>
          <a:prstGeom prst="rect">
            <a:avLst/>
          </a:prstGeom>
          <a:noFill/>
        </p:spPr>
        <p:txBody>
          <a:bodyPr wrap="none">
            <a:spAutoFit/>
          </a:bodyPr>
          <a:lstStyle/>
          <a:p>
            <a:pPr>
              <a:defRPr sz="2800" b="1"/>
            </a:pPr>
            <a:r>
              <a:rPr dirty="0"/>
              <a:t>One-line explanation</a:t>
            </a:r>
          </a:p>
        </p:txBody>
      </p:sp>
      <p:sp>
        <p:nvSpPr>
          <p:cNvPr id="3" name="TextBox 2"/>
          <p:cNvSpPr txBox="1"/>
          <p:nvPr/>
        </p:nvSpPr>
        <p:spPr>
          <a:xfrm>
            <a:off x="594360" y="1051560"/>
            <a:ext cx="10972800" cy="777812"/>
          </a:xfrm>
          <a:prstGeom prst="rect">
            <a:avLst/>
          </a:prstGeom>
          <a:noFill/>
        </p:spPr>
        <p:txBody>
          <a:bodyPr wrap="square">
            <a:normAutofit/>
          </a:bodyPr>
          <a:lstStyle/>
          <a:p>
            <a:pPr>
              <a:spcAft>
                <a:spcPts val="600"/>
              </a:spcAft>
              <a:defRPr sz="1700"/>
            </a:pPr>
            <a:r>
              <a:t>Chunking breaks the document, embeddings convert chunks into vectors, the vector store stores them, the retriever finds relevant chunks, and the LLM uses those chunks as context to generate the answer.</a:t>
            </a:r>
          </a:p>
        </p:txBody>
      </p:sp>
      <p:sp>
        <p:nvSpPr>
          <p:cNvPr id="4" name="Rectangle 3"/>
          <p:cNvSpPr/>
          <p:nvPr/>
        </p:nvSpPr>
        <p:spPr>
          <a:xfrm>
            <a:off x="502920" y="6565392"/>
            <a:ext cx="11155680" cy="13716"/>
          </a:xfrm>
          <a:prstGeom prst="rect">
            <a:avLst/>
          </a:prstGeom>
          <a:solidFill>
            <a:srgbClr val="D2D6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0607040" y="6601968"/>
            <a:ext cx="1005840" cy="182880"/>
          </a:xfrm>
          <a:prstGeom prst="rect">
            <a:avLst/>
          </a:prstGeom>
          <a:noFill/>
        </p:spPr>
        <p:txBody>
          <a:bodyPr wrap="none">
            <a:spAutoFit/>
          </a:bodyPr>
          <a:lstStyle/>
          <a:p>
            <a:pPr algn="r">
              <a:defRPr sz="900"/>
            </a:pPr>
            <a:r>
              <a:t>58</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2920" y="228600"/>
            <a:ext cx="3331233" cy="1384995"/>
          </a:xfrm>
          <a:prstGeom prst="rect">
            <a:avLst/>
          </a:prstGeom>
          <a:noFill/>
        </p:spPr>
        <p:txBody>
          <a:bodyPr wrap="none">
            <a:spAutoFit/>
          </a:bodyPr>
          <a:lstStyle/>
          <a:p>
            <a:pPr>
              <a:defRPr sz="2800" b="1"/>
            </a:pPr>
            <a:r>
              <a:rPr dirty="0"/>
              <a:t> </a:t>
            </a:r>
            <a:endParaRPr lang="en-IN" dirty="0"/>
          </a:p>
          <a:p>
            <a:pPr>
              <a:defRPr sz="2800" b="1"/>
            </a:pPr>
            <a:endParaRPr lang="en-IN" dirty="0"/>
          </a:p>
          <a:p>
            <a:pPr>
              <a:defRPr sz="2800" b="1"/>
            </a:pPr>
            <a:r>
              <a:rPr dirty="0"/>
              <a:t>Teach It in This Order</a:t>
            </a:r>
          </a:p>
        </p:txBody>
      </p:sp>
      <p:sp>
        <p:nvSpPr>
          <p:cNvPr id="3" name="TextBox 2"/>
          <p:cNvSpPr txBox="1"/>
          <p:nvPr/>
        </p:nvSpPr>
        <p:spPr>
          <a:xfrm>
            <a:off x="979170" y="1108710"/>
            <a:ext cx="10972800" cy="5303520"/>
          </a:xfrm>
          <a:prstGeom prst="rect">
            <a:avLst/>
          </a:prstGeom>
          <a:noFill/>
        </p:spPr>
        <p:txBody>
          <a:bodyPr wrap="square">
            <a:normAutofit/>
          </a:bodyPr>
          <a:lstStyle/>
          <a:p>
            <a:pPr>
              <a:spcAft>
                <a:spcPts val="600"/>
              </a:spcAft>
              <a:defRPr sz="1700"/>
            </a:pPr>
            <a:endParaRPr dirty="0"/>
          </a:p>
          <a:p>
            <a:pPr>
              <a:spcAft>
                <a:spcPts val="600"/>
              </a:spcAft>
              <a:defRPr sz="1700"/>
            </a:pPr>
            <a:endParaRPr dirty="0"/>
          </a:p>
          <a:p>
            <a:pPr>
              <a:spcAft>
                <a:spcPts val="600"/>
              </a:spcAft>
              <a:defRPr sz="1700"/>
            </a:pPr>
            <a:r>
              <a:rPr dirty="0"/>
              <a:t>1. What problem are we solving? → LLM doesn't automatically know our private documents.</a:t>
            </a:r>
          </a:p>
          <a:p>
            <a:pPr>
              <a:spcAft>
                <a:spcPts val="600"/>
              </a:spcAft>
              <a:defRPr sz="1700"/>
            </a:pPr>
            <a:r>
              <a:rPr dirty="0"/>
              <a:t>2. Chunking → Break large documents into manageable pieces.</a:t>
            </a:r>
          </a:p>
          <a:p>
            <a:pPr>
              <a:spcAft>
                <a:spcPts val="600"/>
              </a:spcAft>
              <a:defRPr sz="1700"/>
            </a:pPr>
            <a:r>
              <a:rPr dirty="0"/>
              <a:t>3. Embeddings → Convert those pieces into meaning-based vectors.</a:t>
            </a:r>
          </a:p>
          <a:p>
            <a:pPr>
              <a:spcAft>
                <a:spcPts val="600"/>
              </a:spcAft>
              <a:defRPr sz="1700"/>
            </a:pPr>
            <a:r>
              <a:rPr dirty="0"/>
              <a:t>4. Similarity → Determine which vectors are closest to the user's question.</a:t>
            </a:r>
          </a:p>
          <a:p>
            <a:pPr>
              <a:spcAft>
                <a:spcPts val="600"/>
              </a:spcAft>
              <a:defRPr sz="1700"/>
            </a:pPr>
            <a:r>
              <a:rPr dirty="0"/>
              <a:t>5. Vector databases → Store and search those vectors.</a:t>
            </a:r>
          </a:p>
          <a:p>
            <a:pPr>
              <a:spcAft>
                <a:spcPts val="600"/>
              </a:spcAft>
              <a:defRPr sz="1700"/>
            </a:pPr>
            <a:r>
              <a:rPr dirty="0"/>
              <a:t>6. Retrieval → Find the relevant chunks.</a:t>
            </a:r>
          </a:p>
          <a:p>
            <a:pPr>
              <a:spcAft>
                <a:spcPts val="600"/>
              </a:spcAft>
              <a:defRPr sz="1700"/>
            </a:pPr>
            <a:r>
              <a:rPr dirty="0"/>
              <a:t>7. Context injection → Put those chunks into the LLM prompt.</a:t>
            </a:r>
          </a:p>
          <a:p>
            <a:pPr>
              <a:spcAft>
                <a:spcPts val="600"/>
              </a:spcAft>
              <a:defRPr sz="1700"/>
            </a:pPr>
            <a:r>
              <a:rPr dirty="0"/>
              <a:t>8. Generation → LLM generates the final answer.</a:t>
            </a:r>
          </a:p>
          <a:p>
            <a:pPr>
              <a:spcAft>
                <a:spcPts val="600"/>
              </a:spcAft>
              <a:defRPr sz="1700"/>
            </a:pPr>
            <a:r>
              <a:rPr dirty="0"/>
              <a:t>9. RAG → Put the complete pipeline together.</a:t>
            </a:r>
          </a:p>
        </p:txBody>
      </p:sp>
      <p:sp>
        <p:nvSpPr>
          <p:cNvPr id="4" name="Rectangle 3"/>
          <p:cNvSpPr/>
          <p:nvPr/>
        </p:nvSpPr>
        <p:spPr>
          <a:xfrm>
            <a:off x="502920" y="6565392"/>
            <a:ext cx="11155680" cy="13716"/>
          </a:xfrm>
          <a:prstGeom prst="rect">
            <a:avLst/>
          </a:prstGeom>
          <a:solidFill>
            <a:srgbClr val="D2D6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0607040" y="6601968"/>
            <a:ext cx="1005840" cy="182880"/>
          </a:xfrm>
          <a:prstGeom prst="rect">
            <a:avLst/>
          </a:prstGeom>
          <a:noFill/>
        </p:spPr>
        <p:txBody>
          <a:bodyPr wrap="none">
            <a:spAutoFit/>
          </a:bodyPr>
          <a:lstStyle/>
          <a:p>
            <a:pPr algn="r">
              <a:defRPr sz="900"/>
            </a:pPr>
            <a:r>
              <a:t>59</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2920" y="228600"/>
            <a:ext cx="11155680" cy="594360"/>
          </a:xfrm>
          <a:prstGeom prst="rect">
            <a:avLst/>
          </a:prstGeom>
          <a:noFill/>
        </p:spPr>
        <p:txBody>
          <a:bodyPr wrap="none">
            <a:spAutoFit/>
          </a:bodyPr>
          <a:lstStyle/>
          <a:p>
            <a:pPr>
              <a:defRPr sz="2800" b="1"/>
            </a:pPr>
            <a:r>
              <a:t>RAG — Complete Concept Recap</a:t>
            </a:r>
          </a:p>
        </p:txBody>
      </p:sp>
      <p:sp>
        <p:nvSpPr>
          <p:cNvPr id="3" name="TextBox 2"/>
          <p:cNvSpPr txBox="1"/>
          <p:nvPr/>
        </p:nvSpPr>
        <p:spPr>
          <a:xfrm>
            <a:off x="594360" y="1051560"/>
            <a:ext cx="10972800" cy="5303520"/>
          </a:xfrm>
          <a:prstGeom prst="rect">
            <a:avLst/>
          </a:prstGeom>
          <a:noFill/>
        </p:spPr>
        <p:txBody>
          <a:bodyPr wrap="square">
            <a:normAutofit/>
          </a:bodyPr>
          <a:lstStyle/>
          <a:p>
            <a:pPr>
              <a:spcAft>
                <a:spcPts val="600"/>
              </a:spcAft>
              <a:defRPr sz="1700"/>
            </a:pPr>
            <a:r>
              <a:t>RAG is a combination of Retrieval + Generation.</a:t>
            </a:r>
          </a:p>
          <a:p>
            <a:pPr>
              <a:spcAft>
                <a:spcPts val="600"/>
              </a:spcAft>
              <a:defRPr sz="1700"/>
            </a:pPr>
            <a:endParaRPr/>
          </a:p>
          <a:p>
            <a:pPr>
              <a:spcAft>
                <a:spcPts val="600"/>
              </a:spcAft>
              <a:defRPr sz="1700"/>
            </a:pPr>
            <a:r>
              <a:t>Documents → Chunking → Embeddings → Vectors → Vector Database → Retriever → Relevant Chunks → Context + User Question → LLM → Answer</a:t>
            </a:r>
          </a:p>
          <a:p>
            <a:pPr>
              <a:spcAft>
                <a:spcPts val="600"/>
              </a:spcAft>
              <a:defRPr sz="1700"/>
            </a:pPr>
            <a:endParaRPr/>
          </a:p>
          <a:p>
            <a:pPr>
              <a:spcAft>
                <a:spcPts val="600"/>
              </a:spcAft>
              <a:defRPr sz="1700"/>
            </a:pPr>
            <a:r>
              <a:t>Chunking breaks the document.</a:t>
            </a:r>
          </a:p>
          <a:p>
            <a:pPr>
              <a:spcAft>
                <a:spcPts val="600"/>
              </a:spcAft>
              <a:defRPr sz="1700"/>
            </a:pPr>
            <a:r>
              <a:t>Embeddings convert chunks into vectors.</a:t>
            </a:r>
          </a:p>
          <a:p>
            <a:pPr>
              <a:spcAft>
                <a:spcPts val="600"/>
              </a:spcAft>
              <a:defRPr sz="1700"/>
            </a:pPr>
            <a:r>
              <a:t>The vector store stores them.</a:t>
            </a:r>
          </a:p>
          <a:p>
            <a:pPr>
              <a:spcAft>
                <a:spcPts val="600"/>
              </a:spcAft>
              <a:defRPr sz="1700"/>
            </a:pPr>
            <a:r>
              <a:t>The retriever finds relevant chunks.</a:t>
            </a:r>
          </a:p>
          <a:p>
            <a:pPr>
              <a:spcAft>
                <a:spcPts val="600"/>
              </a:spcAft>
              <a:defRPr sz="1700"/>
            </a:pPr>
            <a:r>
              <a:t>The LLM uses those chunks as context to generate the answer.</a:t>
            </a:r>
          </a:p>
        </p:txBody>
      </p:sp>
      <p:sp>
        <p:nvSpPr>
          <p:cNvPr id="4" name="Rectangle 3"/>
          <p:cNvSpPr/>
          <p:nvPr/>
        </p:nvSpPr>
        <p:spPr>
          <a:xfrm>
            <a:off x="502920" y="6565392"/>
            <a:ext cx="11155680" cy="13716"/>
          </a:xfrm>
          <a:prstGeom prst="rect">
            <a:avLst/>
          </a:prstGeom>
          <a:solidFill>
            <a:srgbClr val="D2D6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0607040" y="6601968"/>
            <a:ext cx="1005840" cy="182880"/>
          </a:xfrm>
          <a:prstGeom prst="rect">
            <a:avLst/>
          </a:prstGeom>
          <a:noFill/>
        </p:spPr>
        <p:txBody>
          <a:bodyPr wrap="none">
            <a:spAutoFit/>
          </a:bodyPr>
          <a:lstStyle/>
          <a:p>
            <a:pPr algn="r">
              <a:defRPr sz="900"/>
            </a:pPr>
            <a:r>
              <a:t>60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71</TotalTime>
  <Words>2708</Words>
  <Application>Microsoft Office PowerPoint</Application>
  <PresentationFormat>Widescreen</PresentationFormat>
  <Paragraphs>719</Paragraphs>
  <Slides>38</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38</vt:i4>
      </vt:variant>
    </vt:vector>
  </HeadingPairs>
  <TitlesOfParts>
    <vt:vector size="41"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ishita ghosh</dc:creator>
  <cp:keywords/>
  <dc:description>generated using python-pptx</dc:description>
  <cp:lastModifiedBy>ishita ghosh</cp:lastModifiedBy>
  <cp:revision>4</cp:revision>
  <dcterms:created xsi:type="dcterms:W3CDTF">2013-01-27T09:14:16Z</dcterms:created>
  <dcterms:modified xsi:type="dcterms:W3CDTF">2026-10-08T18:00:28Z</dcterms:modified>
  <cp:category/>
</cp:coreProperties>
</file>